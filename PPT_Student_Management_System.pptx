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84" r:id="rId5"/>
    <p:sldId id="286" r:id="rId6"/>
    <p:sldId id="259" r:id="rId7"/>
    <p:sldId id="274" r:id="rId8"/>
    <p:sldId id="279" r:id="rId9"/>
    <p:sldId id="288" r:id="rId10"/>
    <p:sldId id="293" r:id="rId11"/>
    <p:sldId id="294" r:id="rId12"/>
    <p:sldId id="295" r:id="rId13"/>
    <p:sldId id="296" r:id="rId14"/>
    <p:sldId id="297" r:id="rId15"/>
    <p:sldId id="298" r:id="rId16"/>
    <p:sldId id="299" r:id="rId17"/>
    <p:sldId id="300" r:id="rId18"/>
    <p:sldId id="290" r:id="rId19"/>
    <p:sldId id="282" r:id="rId20"/>
    <p:sldId id="269" r:id="rId21"/>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69" d="100"/>
          <a:sy n="69" d="100"/>
        </p:scale>
        <p:origin x="169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05-04-2026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2</a:t>
            </a:fld>
            <a:endParaRPr lang="en-IN"/>
          </a:p>
        </p:txBody>
      </p:sp>
    </p:spTree>
    <p:extLst>
      <p:ext uri="{BB962C8B-B14F-4D97-AF65-F5344CB8AC3E}">
        <p14:creationId xmlns:p14="http://schemas.microsoft.com/office/powerpoint/2010/main" val="1440295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38171" y="457200"/>
            <a:ext cx="5582056" cy="936997"/>
          </a:xfrm>
          <a:prstGeom prst="rect">
            <a:avLst/>
          </a:prstGeom>
        </p:spPr>
      </p:pic>
      <p:sp>
        <p:nvSpPr>
          <p:cNvPr id="3" name="object 3"/>
          <p:cNvSpPr txBox="1">
            <a:spLocks noGrp="1"/>
          </p:cNvSpPr>
          <p:nvPr>
            <p:ph type="title"/>
          </p:nvPr>
        </p:nvSpPr>
        <p:spPr>
          <a:xfrm>
            <a:off x="1028700" y="1866274"/>
            <a:ext cx="8218012"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Mern Stack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762000" y="3395541"/>
            <a:ext cx="8751412" cy="2830262"/>
          </a:xfrm>
          <a:prstGeom prst="rect">
            <a:avLst/>
          </a:prstGeom>
        </p:spPr>
        <p:txBody>
          <a:bodyPr vert="horz" wrap="square" lIns="0" tIns="16510" rIns="0" bIns="0" rtlCol="0">
            <a:spAutoFit/>
          </a:bodyPr>
          <a:lstStyle/>
          <a:p>
            <a:pPr algn="ctr">
              <a:lnSpc>
                <a:spcPct val="100000"/>
              </a:lnSpc>
              <a:spcBef>
                <a:spcPts val="130"/>
              </a:spcBef>
            </a:pPr>
            <a:r>
              <a:rPr lang="en-IN" sz="2400" dirty="0">
                <a:solidFill>
                  <a:srgbClr val="FF0000"/>
                </a:solidFill>
              </a:rPr>
              <a:t>Student Management System</a:t>
            </a:r>
            <a:endParaRPr lang="en-US" sz="2200"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1600" spc="-25" dirty="0">
              <a:solidFill>
                <a:srgbClr val="FF0000"/>
              </a:solidFill>
              <a:latin typeface="Times New Roman" panose="02020603050405020304" pitchFamily="18" charset="0"/>
              <a:cs typeface="Times New Roman" panose="02020603050405020304" pitchFamily="18" charset="0"/>
            </a:endParaRPr>
          </a:p>
          <a:p>
            <a:pPr algn="ctr"/>
            <a:r>
              <a:rPr lang="en-US" sz="1600" dirty="0"/>
              <a:t>D.SWETHA(24B11AI087)</a:t>
            </a:r>
            <a:endParaRPr lang="en-IN" sz="1600" dirty="0"/>
          </a:p>
          <a:p>
            <a:pPr algn="ctr"/>
            <a:r>
              <a:rPr lang="en-US" sz="1600" dirty="0"/>
              <a:t>M.CHITTI(2411AI228)</a:t>
            </a:r>
            <a:endParaRPr lang="en-IN" sz="1600" dirty="0"/>
          </a:p>
          <a:p>
            <a:pPr algn="ctr"/>
            <a:r>
              <a:rPr lang="en-US" sz="1600" dirty="0"/>
              <a:t>M.HARSHITH(24B11AI248)</a:t>
            </a:r>
            <a:endParaRPr lang="en-IN" sz="1600" dirty="0"/>
          </a:p>
          <a:p>
            <a:pPr algn="ctr"/>
            <a:r>
              <a:rPr lang="en-US" sz="1600" dirty="0"/>
              <a:t>P.S.S.NEHAH(24B11AI316)</a:t>
            </a:r>
            <a:endParaRPr lang="en-IN" sz="1600" dirty="0"/>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AIML</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290750" y="204311"/>
            <a:ext cx="1163002" cy="424338"/>
          </a:xfrm>
          <a:prstGeom prst="rect">
            <a:avLst/>
          </a:prstGeom>
        </p:spPr>
      </p:pic>
      <p:sp>
        <p:nvSpPr>
          <p:cNvPr id="4" name="object 4"/>
          <p:cNvSpPr txBox="1"/>
          <p:nvPr/>
        </p:nvSpPr>
        <p:spPr>
          <a:xfrm>
            <a:off x="1219200" y="1447800"/>
            <a:ext cx="4151980" cy="4117794"/>
          </a:xfrm>
          <a:prstGeom prst="rect">
            <a:avLst/>
          </a:prstGeom>
        </p:spPr>
        <p:txBody>
          <a:bodyPr vert="horz" wrap="square" lIns="0" tIns="16510" rIns="0" bIns="0" rtlCol="0">
            <a:spAutoFit/>
          </a:bodyPr>
          <a:lstStyle/>
          <a:p>
            <a:pPr marL="389890" indent="-377190" algn="just">
              <a:lnSpc>
                <a:spcPct val="100000"/>
              </a:lnSpc>
              <a:spcBef>
                <a:spcPts val="130"/>
              </a:spcBef>
              <a:buFont typeface="Cambria"/>
              <a:buAutoNum type="arabicPeriod"/>
              <a:tabLst>
                <a:tab pos="389890" algn="l"/>
              </a:tabLst>
            </a:pPr>
            <a:r>
              <a:rPr lang="en-IN" spc="-10"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a:p>
            <a:pPr marL="389890" indent="-377190" algn="just">
              <a:lnSpc>
                <a:spcPct val="100000"/>
              </a:lnSpc>
              <a:spcBef>
                <a:spcPts val="2060"/>
              </a:spcBef>
              <a:buAutoNum type="arabicPeriod"/>
              <a:tabLst>
                <a:tab pos="389890" algn="l"/>
              </a:tabLst>
            </a:pPr>
            <a:r>
              <a:rPr lang="en-IN" dirty="0">
                <a:latin typeface="Times New Roman" panose="02020603050405020304" pitchFamily="18" charset="0"/>
                <a:cs typeface="Times New Roman" panose="02020603050405020304" pitchFamily="18" charset="0"/>
              </a:rPr>
              <a:t>Introduction</a:t>
            </a:r>
          </a:p>
          <a:p>
            <a:pPr marL="389890" indent="-377190" algn="just">
              <a:lnSpc>
                <a:spcPct val="100000"/>
              </a:lnSpc>
              <a:spcBef>
                <a:spcPts val="2060"/>
              </a:spcBef>
              <a:buAutoNum type="arabicPeriod"/>
              <a:tabLst>
                <a:tab pos="389890" algn="l"/>
              </a:tabLst>
            </a:pPr>
            <a:r>
              <a:rPr lang="en-IN" dirty="0">
                <a:latin typeface="Times New Roman" panose="02020603050405020304" pitchFamily="18" charset="0"/>
                <a:cs typeface="Times New Roman" panose="02020603050405020304" pitchFamily="18" charset="0"/>
              </a:rPr>
              <a:t>System Description</a:t>
            </a:r>
          </a:p>
          <a:p>
            <a:pPr marL="389890" indent="-377190" algn="just">
              <a:lnSpc>
                <a:spcPct val="100000"/>
              </a:lnSpc>
              <a:spcBef>
                <a:spcPts val="2060"/>
              </a:spcBef>
              <a:buAutoNum type="arabicPeriod"/>
              <a:tabLst>
                <a:tab pos="389890" algn="l"/>
              </a:tabLst>
            </a:pPr>
            <a:r>
              <a:rPr lang="en-IN" dirty="0">
                <a:latin typeface="Times New Roman" panose="02020603050405020304" pitchFamily="18" charset="0"/>
                <a:cs typeface="Times New Roman" panose="02020603050405020304" pitchFamily="18" charset="0"/>
              </a:rPr>
              <a:t>Data Preprocessing</a:t>
            </a:r>
          </a:p>
          <a:p>
            <a:pPr marL="389890" indent="-377190" algn="just">
              <a:spcBef>
                <a:spcPts val="2060"/>
              </a:spcBef>
              <a:buFontTx/>
              <a:buAutoNum type="arabicPeriod"/>
              <a:tabLst>
                <a:tab pos="389890" algn="l"/>
              </a:tabLst>
            </a:pPr>
            <a:r>
              <a:rPr lang="en-IN" spc="50" dirty="0">
                <a:latin typeface="Times New Roman" panose="02020603050405020304" pitchFamily="18" charset="0"/>
                <a:cs typeface="Times New Roman" panose="02020603050405020304" pitchFamily="18" charset="0"/>
              </a:rPr>
              <a:t>Methodology</a:t>
            </a:r>
          </a:p>
          <a:p>
            <a:pPr marL="389890" indent="-377190" algn="just">
              <a:spcBef>
                <a:spcPts val="2060"/>
              </a:spcBef>
              <a:buFontTx/>
              <a:buAutoNum type="arabicPeriod"/>
              <a:tabLst>
                <a:tab pos="389890" algn="l"/>
              </a:tabLst>
            </a:pPr>
            <a:r>
              <a:rPr lang="en-IN" dirty="0">
                <a:latin typeface="Times New Roman" panose="02020603050405020304" pitchFamily="18" charset="0"/>
                <a:cs typeface="Times New Roman" panose="02020603050405020304" pitchFamily="18" charset="0"/>
              </a:rPr>
              <a:t>Modules / Functionalities</a:t>
            </a:r>
          </a:p>
          <a:p>
            <a:pPr marL="389890" indent="-377190" algn="just">
              <a:spcBef>
                <a:spcPts val="2060"/>
              </a:spcBef>
              <a:buFontTx/>
              <a:buAutoNum type="arabicPeriod"/>
              <a:tabLst>
                <a:tab pos="389890" algn="l"/>
              </a:tabLst>
            </a:pPr>
            <a:r>
              <a:rPr lang="en-IN" dirty="0">
                <a:latin typeface="Times New Roman" panose="02020603050405020304" pitchFamily="18" charset="0"/>
                <a:cs typeface="Times New Roman" panose="02020603050405020304" pitchFamily="18" charset="0"/>
              </a:rPr>
              <a:t>System Features / Implementation</a:t>
            </a:r>
          </a:p>
          <a:p>
            <a:pPr marL="389890" indent="-377190" algn="just">
              <a:spcBef>
                <a:spcPts val="2060"/>
              </a:spcBef>
              <a:buFontTx/>
              <a:buAutoNum type="arabicPeriod"/>
              <a:tabLst>
                <a:tab pos="389890" algn="l"/>
              </a:tabLst>
            </a:pPr>
            <a:r>
              <a:rPr lang="en-IN"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4" cstate="print"/>
            <a:stretch>
              <a:fillRect/>
            </a:stretch>
          </p:blipFill>
          <p:spPr>
            <a:xfrm>
              <a:off x="2648188" y="47148"/>
              <a:ext cx="5103904" cy="1198311"/>
            </a:xfrm>
            <a:prstGeom prst="rect">
              <a:avLst/>
            </a:prstGeom>
          </p:spPr>
        </p:pic>
        <p:pic>
          <p:nvPicPr>
            <p:cNvPr id="7" name="object 5"/>
            <p:cNvPicPr/>
            <p:nvPr/>
          </p:nvPicPr>
          <p:blipFill>
            <a:blip r:embed="rId5" cstate="print"/>
            <a:stretch>
              <a:fillRect/>
            </a:stretch>
          </p:blipFill>
          <p:spPr>
            <a:xfrm>
              <a:off x="2703195" y="86439"/>
              <a:ext cx="4997767" cy="1092279"/>
            </a:xfrm>
            <a:prstGeom prst="rect">
              <a:avLst/>
            </a:prstGeom>
          </p:spPr>
        </p:pic>
        <p:pic>
          <p:nvPicPr>
            <p:cNvPr id="8" name="object 6"/>
            <p:cNvPicPr/>
            <p:nvPr/>
          </p:nvPicPr>
          <p:blipFill>
            <a:blip r:embed="rId6"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628650" y="1243319"/>
            <a:ext cx="8801100" cy="624786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focuses on developing a </a:t>
            </a:r>
            <a:r>
              <a:rPr lang="en-US" b="1" dirty="0">
                <a:latin typeface="Times New Roman" panose="02020603050405020304" pitchFamily="18" charset="0"/>
                <a:cs typeface="Times New Roman" panose="02020603050405020304" pitchFamily="18" charset="0"/>
              </a:rPr>
              <a:t>Student Management System</a:t>
            </a:r>
            <a:r>
              <a:rPr lang="en-US" dirty="0">
                <a:latin typeface="Times New Roman" panose="02020603050405020304" pitchFamily="18" charset="0"/>
                <a:cs typeface="Times New Roman" panose="02020603050405020304" pitchFamily="18" charset="0"/>
              </a:rPr>
              <a:t> to efficiently      manage and organize student information using web technologies. The system helps in maintaining accurate records of student details, improving data accessibility, and reducing manual workload.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includes attributes such as </a:t>
            </a:r>
            <a:r>
              <a:rPr lang="en-US" b="1" dirty="0">
                <a:latin typeface="Times New Roman" panose="02020603050405020304" pitchFamily="18" charset="0"/>
                <a:cs typeface="Times New Roman" panose="02020603050405020304" pitchFamily="18" charset="0"/>
              </a:rPr>
              <a:t>student name, roll number, date of joining, year of study, branch, personal details, parent details, attendance records, fee details, and hostel status (hosteller/non-hosteller)</a:t>
            </a:r>
            <a:r>
              <a:rPr lang="en-US" dirty="0">
                <a:latin typeface="Times New Roman" panose="02020603050405020304" pitchFamily="18" charset="0"/>
                <a:cs typeface="Times New Roman" panose="02020603050405020304" pitchFamily="18" charset="0"/>
              </a:rPr>
              <a:t>, along with online fee payment tracking.</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handling techniques such as </a:t>
            </a:r>
            <a:r>
              <a:rPr lang="en-US" b="1" dirty="0">
                <a:latin typeface="Times New Roman" panose="02020603050405020304" pitchFamily="18" charset="0"/>
                <a:cs typeface="Times New Roman" panose="02020603050405020304" pitchFamily="18" charset="0"/>
              </a:rPr>
              <a:t>form validation, structured data storage, and error handling</a:t>
            </a:r>
            <a:r>
              <a:rPr lang="en-US" dirty="0">
                <a:latin typeface="Times New Roman" panose="02020603050405020304" pitchFamily="18" charset="0"/>
                <a:cs typeface="Times New Roman" panose="02020603050405020304" pitchFamily="18" charset="0"/>
              </a:rPr>
              <a:t> are applied to ensure accuracy and consistency. The system allows easy entry, updating, and retrieval of student information.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application is developed using </a:t>
            </a:r>
            <a:r>
              <a:rPr lang="en-US" b="1" dirty="0">
                <a:latin typeface="Times New Roman" panose="02020603050405020304" pitchFamily="18" charset="0"/>
                <a:cs typeface="Times New Roman" panose="02020603050405020304" pitchFamily="18" charset="0"/>
              </a:rPr>
              <a:t>HTML, CSS, JavaScript for frontend</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PHP/Node.js with MySQL/MongoDB for backend and database management</a:t>
            </a:r>
            <a:r>
              <a:rPr lang="en-US" dirty="0">
                <a:latin typeface="Times New Roman" panose="02020603050405020304" pitchFamily="18" charset="0"/>
                <a:cs typeface="Times New Roman" panose="02020603050405020304" pitchFamily="18" charset="0"/>
              </a:rPr>
              <a:t>. It supports functionalities like </a:t>
            </a:r>
            <a:r>
              <a:rPr lang="en-US" b="1" dirty="0">
                <a:latin typeface="Times New Roman" panose="02020603050405020304" pitchFamily="18" charset="0"/>
                <a:cs typeface="Times New Roman" panose="02020603050405020304" pitchFamily="18" charset="0"/>
              </a:rPr>
              <a:t>student registration, attendance management, fee tracking, and report generation</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the system provides an efficient and user-friendly solution for managing student data digitally and can be further enhanced with advanced features like authentication, analytics, and mobile support</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1C49-8824-9CD1-A9FB-4164A2A30CB5}"/>
              </a:ext>
            </a:extLst>
          </p:cNvPr>
          <p:cNvSpPr>
            <a:spLocks noGrp="1"/>
          </p:cNvSpPr>
          <p:nvPr>
            <p:ph type="title"/>
          </p:nvPr>
        </p:nvSpPr>
        <p:spPr/>
        <p:txBody>
          <a:bodyPr/>
          <a:lstStyle/>
          <a:p>
            <a:endParaRPr lang="en-IN" dirty="0"/>
          </a:p>
        </p:txBody>
      </p:sp>
      <p:grpSp>
        <p:nvGrpSpPr>
          <p:cNvPr id="4" name="object 3">
            <a:extLst>
              <a:ext uri="{FF2B5EF4-FFF2-40B4-BE49-F238E27FC236}">
                <a16:creationId xmlns:a16="http://schemas.microsoft.com/office/drawing/2014/main" id="{62A04FF2-8A16-5C67-4A10-E590A41B20BB}"/>
              </a:ext>
            </a:extLst>
          </p:cNvPr>
          <p:cNvGrpSpPr/>
          <p:nvPr/>
        </p:nvGrpSpPr>
        <p:grpSpPr>
          <a:xfrm>
            <a:off x="2819400" y="609600"/>
            <a:ext cx="5103904" cy="1198311"/>
            <a:chOff x="2648188" y="47148"/>
            <a:chExt cx="5103904" cy="1198311"/>
          </a:xfrm>
        </p:grpSpPr>
        <p:pic>
          <p:nvPicPr>
            <p:cNvPr id="5" name="object 4">
              <a:extLst>
                <a:ext uri="{FF2B5EF4-FFF2-40B4-BE49-F238E27FC236}">
                  <a16:creationId xmlns:a16="http://schemas.microsoft.com/office/drawing/2014/main" id="{519455CF-F7F1-B792-0F72-74FB1658C8D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A96FD01-FE56-A244-D089-B53242350DAC}"/>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7085CF7-43DC-18EA-E9D6-C06D3F105416}"/>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6B6AA9F-D45B-54B3-7E51-4AE4CCCE3F5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System Description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
        <p:nvSpPr>
          <p:cNvPr id="10" name="TextBox 9">
            <a:extLst>
              <a:ext uri="{FF2B5EF4-FFF2-40B4-BE49-F238E27FC236}">
                <a16:creationId xmlns:a16="http://schemas.microsoft.com/office/drawing/2014/main" id="{EC04DCBE-BBD1-D203-CBB1-9007EE3C4AF7}"/>
              </a:ext>
            </a:extLst>
          </p:cNvPr>
          <p:cNvSpPr txBox="1"/>
          <p:nvPr/>
        </p:nvSpPr>
        <p:spPr>
          <a:xfrm>
            <a:off x="2514600" y="3675556"/>
            <a:ext cx="5029200" cy="369332"/>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Data Preprocessing</a:t>
            </a:r>
          </a:p>
        </p:txBody>
      </p:sp>
      <p:sp>
        <p:nvSpPr>
          <p:cNvPr id="11" name="Text Placeholder 10">
            <a:extLst>
              <a:ext uri="{FF2B5EF4-FFF2-40B4-BE49-F238E27FC236}">
                <a16:creationId xmlns:a16="http://schemas.microsoft.com/office/drawing/2014/main" id="{399AF1E6-CD78-6968-14CE-4F70CB689C94}"/>
              </a:ext>
            </a:extLst>
          </p:cNvPr>
          <p:cNvSpPr>
            <a:spLocks noGrp="1"/>
          </p:cNvSpPr>
          <p:nvPr>
            <p:ph type="body" idx="1"/>
          </p:nvPr>
        </p:nvSpPr>
        <p:spPr>
          <a:xfrm>
            <a:off x="335316" y="1419180"/>
            <a:ext cx="9646884" cy="6370975"/>
          </a:xfrm>
        </p:spPr>
        <p:txBody>
          <a:bodyPr/>
          <a:lstStyle/>
          <a:p>
            <a:r>
              <a:rPr lang="en-IN" sz="1800" b="0" dirty="0"/>
              <a:t>The system developed in this project manages and organizes student-related information, including academic, personal, attendance, and financial details in a structured and efficient way.</a:t>
            </a:r>
          </a:p>
          <a:p>
            <a:endParaRPr lang="en-IN" sz="1800" dirty="0"/>
          </a:p>
          <a:p>
            <a:r>
              <a:rPr lang="en-IN" sz="1800" dirty="0"/>
              <a:t>System Details</a:t>
            </a:r>
          </a:p>
          <a:p>
            <a:r>
              <a:rPr lang="en-IN" sz="1800" b="0" dirty="0"/>
              <a:t>• System Type: Web-based application</a:t>
            </a:r>
            <a:br>
              <a:rPr lang="en-IN" sz="1800" b="0" dirty="0"/>
            </a:br>
            <a:r>
              <a:rPr lang="en-IN" sz="1800" b="0" dirty="0"/>
              <a:t>• Platform: Browser-based (accessible through Chrome, Edge, etc.)</a:t>
            </a:r>
            <a:br>
              <a:rPr lang="en-IN" sz="1800" b="0" dirty="0"/>
            </a:br>
            <a:r>
              <a:rPr lang="en-IN" sz="1800" b="0" dirty="0"/>
              <a:t>• Architecture: Client–Server Model</a:t>
            </a:r>
            <a:br>
              <a:rPr lang="en-IN" sz="1800" b="0" dirty="0"/>
            </a:br>
            <a:r>
              <a:rPr lang="en-IN" sz="1800" b="0" dirty="0"/>
              <a:t>• Database Type: Structured database (MySQL / MongoDB)</a:t>
            </a:r>
          </a:p>
          <a:p>
            <a:endParaRPr lang="en-IN" sz="1800" dirty="0"/>
          </a:p>
          <a:p>
            <a:r>
              <a:rPr lang="en-IN" sz="1800" dirty="0"/>
              <a:t>Modules Included</a:t>
            </a:r>
          </a:p>
          <a:p>
            <a:r>
              <a:rPr lang="en-IN" sz="1800" b="0" dirty="0"/>
              <a:t>• Student Registration Module</a:t>
            </a:r>
            <a:br>
              <a:rPr lang="en-IN" sz="1800" b="0" dirty="0"/>
            </a:br>
            <a:r>
              <a:rPr lang="en-IN" sz="1800" b="0" dirty="0"/>
              <a:t>• Student Details Management</a:t>
            </a:r>
            <a:br>
              <a:rPr lang="en-IN" sz="1800" b="0" dirty="0"/>
            </a:br>
            <a:r>
              <a:rPr lang="en-IN" sz="1800" b="0" dirty="0"/>
              <a:t>• Parent Details Module</a:t>
            </a:r>
            <a:br>
              <a:rPr lang="en-IN" sz="1800" b="0" dirty="0"/>
            </a:br>
            <a:r>
              <a:rPr lang="en-IN" sz="1800" b="0" dirty="0"/>
              <a:t>• Attendance Management</a:t>
            </a:r>
            <a:br>
              <a:rPr lang="en-IN" sz="1800" b="0" dirty="0"/>
            </a:br>
            <a:r>
              <a:rPr lang="en-IN" sz="1800" b="0" dirty="0"/>
              <a:t>• Fee Management &amp; Online Payment</a:t>
            </a:r>
            <a:br>
              <a:rPr lang="en-IN" sz="1800" b="0" dirty="0"/>
            </a:br>
            <a:r>
              <a:rPr lang="en-IN" sz="1800" b="0" dirty="0"/>
              <a:t>• Hostel / Non-Hosteller Management</a:t>
            </a:r>
          </a:p>
          <a:p>
            <a:endParaRPr lang="en-US" sz="1800" b="0" dirty="0">
              <a:latin typeface="Times New Roman" panose="02020603050405020304" pitchFamily="18" charset="0"/>
              <a:cs typeface="Times New Roman" panose="02020603050405020304" pitchFamily="18" charset="0"/>
            </a:endParaRPr>
          </a:p>
          <a:p>
            <a:endParaRPr lang="en-US" sz="1800" b="0" dirty="0">
              <a:latin typeface="Times New Roman" panose="02020603050405020304" pitchFamily="18" charset="0"/>
              <a:cs typeface="Times New Roman" panose="02020603050405020304" pitchFamily="18" charset="0"/>
            </a:endParaRPr>
          </a:p>
          <a:p>
            <a:r>
              <a:rPr lang="en-US" sz="1800" b="0" dirty="0">
                <a:latin typeface="Times New Roman" panose="02020603050405020304" pitchFamily="18" charset="0"/>
                <a:cs typeface="Times New Roman" panose="02020603050405020304" pitchFamily="18" charset="0"/>
              </a:rPr>
              <a:t>   </a:t>
            </a:r>
          </a:p>
          <a:p>
            <a:endParaRPr lang="en-US" sz="1800" b="0" dirty="0">
              <a:latin typeface="Times New Roman" panose="02020603050405020304" pitchFamily="18" charset="0"/>
              <a:cs typeface="Times New Roman" panose="02020603050405020304" pitchFamily="18" charset="0"/>
            </a:endParaRPr>
          </a:p>
          <a:p>
            <a:endParaRPr lang="en-US" sz="1800" b="0" dirty="0">
              <a:latin typeface="Times New Roman" panose="02020603050405020304" pitchFamily="18" charset="0"/>
              <a:cs typeface="Times New Roman" panose="02020603050405020304" pitchFamily="18" charset="0"/>
            </a:endParaRPr>
          </a:p>
          <a:p>
            <a:endParaRPr lang="en-IN" sz="1800" b="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DC951F1-A51A-E176-217E-ED8E61F4E6E1}"/>
              </a:ext>
            </a:extLst>
          </p:cNvPr>
          <p:cNvSpPr txBox="1"/>
          <p:nvPr/>
        </p:nvSpPr>
        <p:spPr>
          <a:xfrm>
            <a:off x="1981200" y="2895600"/>
            <a:ext cx="5029200" cy="369332"/>
          </a:xfrm>
          <a:prstGeom prst="rect">
            <a:avLst/>
          </a:prstGeom>
          <a:noFill/>
        </p:spPr>
        <p:txBody>
          <a:bodyPr wrap="square">
            <a:spAutoFit/>
          </a:bodyPr>
          <a:lstStyle/>
          <a:p>
            <a:pPr>
              <a:buNone/>
            </a:pPr>
            <a:r>
              <a:rPr lang="en-US" dirty="0"/>
              <a:t>.</a:t>
            </a:r>
          </a:p>
        </p:txBody>
      </p:sp>
    </p:spTree>
    <p:extLst>
      <p:ext uri="{BB962C8B-B14F-4D97-AF65-F5344CB8AC3E}">
        <p14:creationId xmlns:p14="http://schemas.microsoft.com/office/powerpoint/2010/main" val="826670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A5A52-8C27-4851-B598-F28426362826}"/>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45D562EA-1D0B-D325-0EC4-38FCDFE0B909}"/>
              </a:ext>
            </a:extLst>
          </p:cNvPr>
          <p:cNvSpPr>
            <a:spLocks noGrp="1"/>
          </p:cNvSpPr>
          <p:nvPr>
            <p:ph type="body" idx="1"/>
          </p:nvPr>
        </p:nvSpPr>
        <p:spPr>
          <a:xfrm>
            <a:off x="620727" y="1395256"/>
            <a:ext cx="8949055" cy="7217360"/>
          </a:xfrm>
        </p:spPr>
        <p:txBody>
          <a:bodyPr/>
          <a:lstStyle/>
          <a:p>
            <a:r>
              <a:rPr lang="en-US" sz="1800" dirty="0"/>
              <a:t>Attributes Used</a:t>
            </a:r>
          </a:p>
          <a:p>
            <a:r>
              <a:rPr lang="en-US" sz="1600" b="0" dirty="0"/>
              <a:t>• </a:t>
            </a:r>
            <a:r>
              <a:rPr lang="en-US" sz="1600" b="0" dirty="0" err="1"/>
              <a:t>student_id</a:t>
            </a:r>
            <a:r>
              <a:rPr lang="en-US" sz="1600" b="0" dirty="0"/>
              <a:t> – Unique identifier for each student</a:t>
            </a:r>
            <a:br>
              <a:rPr lang="en-US" sz="1600" b="0" dirty="0"/>
            </a:br>
            <a:r>
              <a:rPr lang="en-US" sz="1600" b="0" dirty="0"/>
              <a:t>• name – Student full name</a:t>
            </a:r>
            <a:br>
              <a:rPr lang="en-US" sz="1600" b="0" dirty="0"/>
            </a:br>
            <a:r>
              <a:rPr lang="en-US" sz="1600" b="0" dirty="0"/>
              <a:t>• </a:t>
            </a:r>
            <a:r>
              <a:rPr lang="en-US" sz="1600" b="0" dirty="0" err="1"/>
              <a:t>roll_number</a:t>
            </a:r>
            <a:r>
              <a:rPr lang="en-US" sz="1600" b="0" dirty="0"/>
              <a:t> – Unique roll number</a:t>
            </a:r>
            <a:br>
              <a:rPr lang="en-US" sz="1600" b="0" dirty="0"/>
            </a:br>
            <a:r>
              <a:rPr lang="en-US" sz="1600" b="0" dirty="0"/>
              <a:t>• </a:t>
            </a:r>
            <a:r>
              <a:rPr lang="en-US" sz="1600" b="0" dirty="0" err="1"/>
              <a:t>date_of_joining</a:t>
            </a:r>
            <a:r>
              <a:rPr lang="en-US" sz="1600" b="0" dirty="0"/>
              <a:t> – Admission date</a:t>
            </a:r>
            <a:br>
              <a:rPr lang="en-US" sz="1600" b="0" dirty="0"/>
            </a:br>
            <a:r>
              <a:rPr lang="en-US" sz="1600" b="0" dirty="0"/>
              <a:t>• </a:t>
            </a:r>
            <a:r>
              <a:rPr lang="en-US" sz="1600" b="0" dirty="0" err="1"/>
              <a:t>year_of_study</a:t>
            </a:r>
            <a:r>
              <a:rPr lang="en-US" sz="1600" b="0" dirty="0"/>
              <a:t> – Current academic year</a:t>
            </a:r>
            <a:br>
              <a:rPr lang="en-US" sz="1600" b="0" dirty="0"/>
            </a:br>
            <a:r>
              <a:rPr lang="en-US" sz="1600" b="0" dirty="0"/>
              <a:t>• branch – Department (e.g., CSE, ECE)</a:t>
            </a:r>
            <a:br>
              <a:rPr lang="en-US" sz="1600" b="0" dirty="0"/>
            </a:br>
            <a:r>
              <a:rPr lang="en-US" sz="1600" b="0" dirty="0"/>
              <a:t>• </a:t>
            </a:r>
            <a:r>
              <a:rPr lang="en-US" sz="1600" b="0" dirty="0" err="1"/>
              <a:t>student_details</a:t>
            </a:r>
            <a:r>
              <a:rPr lang="en-US" sz="1600" b="0" dirty="0"/>
              <a:t> – Address, contact information</a:t>
            </a:r>
            <a:br>
              <a:rPr lang="en-US" sz="1600" b="0" dirty="0"/>
            </a:br>
            <a:r>
              <a:rPr lang="en-US" sz="1600" b="0" dirty="0"/>
              <a:t>• </a:t>
            </a:r>
            <a:r>
              <a:rPr lang="en-US" sz="1600" b="0" dirty="0" err="1"/>
              <a:t>parent_details</a:t>
            </a:r>
            <a:r>
              <a:rPr lang="en-US" sz="1600" b="0" dirty="0"/>
              <a:t> – Parent name, contact details</a:t>
            </a:r>
            <a:br>
              <a:rPr lang="en-US" sz="1600" b="0" dirty="0"/>
            </a:br>
            <a:r>
              <a:rPr lang="en-US" sz="1600" b="0" dirty="0"/>
              <a:t>• attendance – Attendance percentage/records</a:t>
            </a:r>
            <a:br>
              <a:rPr lang="en-US" sz="1600" b="0" dirty="0"/>
            </a:br>
            <a:r>
              <a:rPr lang="en-US" sz="1600" b="0" dirty="0"/>
              <a:t>• </a:t>
            </a:r>
            <a:r>
              <a:rPr lang="en-US" sz="1600" b="0" dirty="0" err="1"/>
              <a:t>fee_details</a:t>
            </a:r>
            <a:r>
              <a:rPr lang="en-US" sz="1600" b="0" dirty="0"/>
              <a:t> – Total fees, paid amount, due amount</a:t>
            </a:r>
            <a:br>
              <a:rPr lang="en-US" sz="1600" b="0" dirty="0"/>
            </a:br>
            <a:r>
              <a:rPr lang="en-US" sz="1600" b="0" dirty="0"/>
              <a:t>• </a:t>
            </a:r>
            <a:r>
              <a:rPr lang="en-US" sz="1600" b="0" dirty="0" err="1"/>
              <a:t>payment_mode</a:t>
            </a:r>
            <a:r>
              <a:rPr lang="en-US" sz="1600" b="0" dirty="0"/>
              <a:t> – Online / Offline payment</a:t>
            </a:r>
            <a:br>
              <a:rPr lang="en-US" sz="1600" b="0" dirty="0"/>
            </a:br>
            <a:r>
              <a:rPr lang="en-US" sz="1600" b="0" dirty="0"/>
              <a:t>• </a:t>
            </a:r>
            <a:r>
              <a:rPr lang="en-US" sz="1600" b="0" dirty="0" err="1"/>
              <a:t>hostel_status</a:t>
            </a:r>
            <a:r>
              <a:rPr lang="en-US" sz="1600" b="0" dirty="0"/>
              <a:t> – Hosteller / Non-Hosteller</a:t>
            </a:r>
          </a:p>
          <a:p>
            <a:endParaRPr lang="en-US" sz="1800" dirty="0"/>
          </a:p>
          <a:p>
            <a:r>
              <a:rPr lang="en-US" sz="1800" dirty="0"/>
              <a:t>Target Functionality</a:t>
            </a:r>
          </a:p>
          <a:p>
            <a:r>
              <a:rPr lang="en-US" sz="1600" b="0" dirty="0"/>
              <a:t>• Add new student records</a:t>
            </a:r>
            <a:br>
              <a:rPr lang="en-US" sz="1600" b="0" dirty="0"/>
            </a:br>
            <a:r>
              <a:rPr lang="en-US" sz="1600" b="0" dirty="0"/>
              <a:t>• Update and delete existing records</a:t>
            </a:r>
            <a:br>
              <a:rPr lang="en-US" sz="1600" b="0" dirty="0"/>
            </a:br>
            <a:r>
              <a:rPr lang="en-US" sz="1600" b="0" dirty="0"/>
              <a:t>• Track attendance details</a:t>
            </a:r>
            <a:br>
              <a:rPr lang="en-US" sz="1600" b="0" dirty="0"/>
            </a:br>
            <a:r>
              <a:rPr lang="en-US" sz="1600" b="0" dirty="0"/>
              <a:t>• Manage fee payment and online transactions</a:t>
            </a:r>
            <a:br>
              <a:rPr lang="en-US" sz="1600" b="0" dirty="0"/>
            </a:br>
            <a:r>
              <a:rPr lang="en-US" sz="1600" b="0" dirty="0"/>
              <a:t>• View and search student information easily</a:t>
            </a:r>
          </a:p>
          <a:p>
            <a:endParaRPr lang="en-US" sz="1800" dirty="0"/>
          </a:p>
          <a:p>
            <a:r>
              <a:rPr lang="en-US" sz="1800" dirty="0"/>
              <a:t>System Output</a:t>
            </a:r>
          </a:p>
          <a:p>
            <a:r>
              <a:rPr lang="en-US" sz="1600" b="0" dirty="0"/>
              <a:t>The system provides organized student data such as: Complete student profile </a:t>
            </a:r>
          </a:p>
          <a:p>
            <a:r>
              <a:rPr lang="en-US" sz="1600" b="0" dirty="0"/>
              <a:t>Attendance reports ,Fee payment status, Hostel allocation details .</a:t>
            </a:r>
          </a:p>
          <a:p>
            <a:endParaRPr lang="en-US" sz="1800" b="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IN" dirty="0"/>
          </a:p>
          <a:p>
            <a:endParaRPr lang="en-IN" dirty="0"/>
          </a:p>
        </p:txBody>
      </p:sp>
      <p:grpSp>
        <p:nvGrpSpPr>
          <p:cNvPr id="4" name="object 3">
            <a:extLst>
              <a:ext uri="{FF2B5EF4-FFF2-40B4-BE49-F238E27FC236}">
                <a16:creationId xmlns:a16="http://schemas.microsoft.com/office/drawing/2014/main" id="{0061D0D4-4E18-F716-A0E6-510CEFD1D0EF}"/>
              </a:ext>
            </a:extLst>
          </p:cNvPr>
          <p:cNvGrpSpPr/>
          <p:nvPr/>
        </p:nvGrpSpPr>
        <p:grpSpPr>
          <a:xfrm>
            <a:off x="2819400" y="609600"/>
            <a:ext cx="5103904" cy="1198311"/>
            <a:chOff x="2648188" y="47148"/>
            <a:chExt cx="5103904" cy="1198311"/>
          </a:xfrm>
        </p:grpSpPr>
        <p:pic>
          <p:nvPicPr>
            <p:cNvPr id="5" name="object 4">
              <a:extLst>
                <a:ext uri="{FF2B5EF4-FFF2-40B4-BE49-F238E27FC236}">
                  <a16:creationId xmlns:a16="http://schemas.microsoft.com/office/drawing/2014/main" id="{66094BCB-BBF0-FF3C-8246-3BF8E9A36F5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EA8998C-5C06-9089-5E44-B052D9E1E66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B38472D3-FD5E-EF17-A5CC-4242E201453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05C1B40-B2A5-3495-F71B-12762C23D4EF}"/>
                </a:ext>
              </a:extLst>
            </p:cNvPr>
            <p:cNvSpPr/>
            <p:nvPr/>
          </p:nvSpPr>
          <p:spPr>
            <a:xfrm>
              <a:off x="2969498"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System Description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Tree>
    <p:extLst>
      <p:ext uri="{BB962C8B-B14F-4D97-AF65-F5344CB8AC3E}">
        <p14:creationId xmlns:p14="http://schemas.microsoft.com/office/powerpoint/2010/main" val="417261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344896"/>
            <a:ext cx="5103904" cy="1636304"/>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733800" y="735769"/>
            <a:ext cx="5029200" cy="430887"/>
          </a:xfrm>
          <a:prstGeom prst="rect">
            <a:avLst/>
          </a:prstGeom>
          <a:noFill/>
        </p:spPr>
        <p:txBody>
          <a:bodyPr wrap="square">
            <a:spAutoFit/>
          </a:bodyPr>
          <a:lstStyle/>
          <a:p>
            <a:r>
              <a:rPr lang="en-US" sz="2200" b="1" dirty="0">
                <a:solidFill>
                  <a:schemeClr val="bg1"/>
                </a:solidFill>
                <a:latin typeface="Times New Roman" panose="02020603050405020304" pitchFamily="18" charset="0"/>
                <a:cs typeface="Times New Roman" panose="02020603050405020304" pitchFamily="18" charset="0"/>
              </a:rPr>
              <a:t>Problem Statement</a:t>
            </a:r>
            <a:endParaRPr lang="en-IN" sz="220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Rectangle 1">
            <a:extLst>
              <a:ext uri="{FF2B5EF4-FFF2-40B4-BE49-F238E27FC236}">
                <a16:creationId xmlns:a16="http://schemas.microsoft.com/office/drawing/2014/main" id="{3DC6A868-5999-92BA-E5EF-133144AB1C8D}"/>
              </a:ext>
            </a:extLst>
          </p:cNvPr>
          <p:cNvSpPr>
            <a:spLocks noChangeArrowheads="1"/>
          </p:cNvSpPr>
          <p:nvPr/>
        </p:nvSpPr>
        <p:spPr bwMode="auto">
          <a:xfrm>
            <a:off x="457200" y="1487332"/>
            <a:ext cx="8991600" cy="5167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US" dirty="0"/>
            </a:br>
            <a:r>
              <a:rPr lang="en-US" dirty="0">
                <a:latin typeface="Times New Roman" panose="02020603050405020304" pitchFamily="18" charset="0"/>
                <a:cs typeface="Times New Roman" panose="02020603050405020304" pitchFamily="18" charset="0"/>
              </a:rPr>
              <a:t>In many educational institutions, managing student information manually has become a complex and time-consuming task. Maintaining records such as student details, attendance, and fee payments using traditional methods leads to errors, data loss, and difficulty in accessing information.</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Main Problem:</a:t>
            </a:r>
          </a:p>
          <a:p>
            <a:r>
              <a:rPr lang="en-US" dirty="0">
                <a:latin typeface="Times New Roman" panose="02020603050405020304" pitchFamily="18" charset="0"/>
                <a:cs typeface="Times New Roman" panose="02020603050405020304" pitchFamily="18" charset="0"/>
              </a:rPr>
              <a:t>To develop a </a:t>
            </a:r>
            <a:r>
              <a:rPr lang="en-US" b="1" dirty="0">
                <a:latin typeface="Times New Roman" panose="02020603050405020304" pitchFamily="18" charset="0"/>
                <a:cs typeface="Times New Roman" panose="02020603050405020304" pitchFamily="18" charset="0"/>
              </a:rPr>
              <a:t>centralized and efficient Student Management System</a:t>
            </a:r>
            <a:r>
              <a:rPr lang="en-US" dirty="0">
                <a:latin typeface="Times New Roman" panose="02020603050405020304" pitchFamily="18" charset="0"/>
                <a:cs typeface="Times New Roman" panose="02020603050405020304" pitchFamily="18" charset="0"/>
              </a:rPr>
              <a:t> that can accurately store, manage, and retrieve student data, including academic, personal, attendance, and financial details using a digital platform.</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Sub-Problems: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Handling large volumes of student data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Managing incomplete or incorrect data entries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Maintaining accurate attendance records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Tracking fee payments and online transactions </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Ensuring quick and easy access to student information</a:t>
            </a:r>
          </a:p>
          <a:p>
            <a:pPr algn="just" rtl="0" eaLnBrk="0" fontAlgn="base" hangingPunct="0">
              <a:lnSpc>
                <a:spcPct val="15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B0A686C3-D8C4-6247-5D18-DB9B451B7060}"/>
              </a:ext>
            </a:extLst>
          </p:cNvPr>
          <p:cNvGrpSpPr/>
          <p:nvPr/>
        </p:nvGrpSpPr>
        <p:grpSpPr>
          <a:xfrm>
            <a:off x="2634964" y="79842"/>
            <a:ext cx="5103904" cy="1198311"/>
            <a:chOff x="2648188" y="47148"/>
            <a:chExt cx="5103904" cy="1198311"/>
          </a:xfrm>
        </p:grpSpPr>
        <p:pic>
          <p:nvPicPr>
            <p:cNvPr id="3" name="object 4">
              <a:extLst>
                <a:ext uri="{FF2B5EF4-FFF2-40B4-BE49-F238E27FC236}">
                  <a16:creationId xmlns:a16="http://schemas.microsoft.com/office/drawing/2014/main" id="{AAB6571D-EE3C-3F09-50F2-DBDE98655C4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0190BE47-D723-6C71-DA74-D8341220BCBB}"/>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9128FD2A-3D69-69A4-62B9-C3CFA6A6594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E317AF7-DE5A-8213-5647-B64A997D2D2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TextBox 11">
            <a:extLst>
              <a:ext uri="{FF2B5EF4-FFF2-40B4-BE49-F238E27FC236}">
                <a16:creationId xmlns:a16="http://schemas.microsoft.com/office/drawing/2014/main" id="{526B6CD6-3C49-CC32-4C53-E233DC27C601}"/>
              </a:ext>
            </a:extLst>
          </p:cNvPr>
          <p:cNvSpPr txBox="1"/>
          <p:nvPr/>
        </p:nvSpPr>
        <p:spPr>
          <a:xfrm>
            <a:off x="3997455" y="315586"/>
            <a:ext cx="22860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Preprocessing</a:t>
            </a:r>
          </a:p>
        </p:txBody>
      </p:sp>
      <p:pic>
        <p:nvPicPr>
          <p:cNvPr id="13" name="object 3">
            <a:extLst>
              <a:ext uri="{FF2B5EF4-FFF2-40B4-BE49-F238E27FC236}">
                <a16:creationId xmlns:a16="http://schemas.microsoft.com/office/drawing/2014/main" id="{F5E2EE77-59CB-1AE9-9CEE-89BB39A62B06}"/>
              </a:ext>
            </a:extLst>
          </p:cNvPr>
          <p:cNvPicPr/>
          <p:nvPr/>
        </p:nvPicPr>
        <p:blipFill>
          <a:blip r:embed="rId5" cstate="print"/>
          <a:stretch>
            <a:fillRect/>
          </a:stretch>
        </p:blipFill>
        <p:spPr>
          <a:xfrm>
            <a:off x="290750" y="204311"/>
            <a:ext cx="1163002" cy="424338"/>
          </a:xfrm>
          <a:prstGeom prst="rect">
            <a:avLst/>
          </a:prstGeom>
        </p:spPr>
      </p:pic>
      <p:sp>
        <p:nvSpPr>
          <p:cNvPr id="14" name="TextBox 13">
            <a:extLst>
              <a:ext uri="{FF2B5EF4-FFF2-40B4-BE49-F238E27FC236}">
                <a16:creationId xmlns:a16="http://schemas.microsoft.com/office/drawing/2014/main" id="{F73F6589-BFA1-7921-DC13-DD166C4A3C14}"/>
              </a:ext>
            </a:extLst>
          </p:cNvPr>
          <p:cNvSpPr txBox="1"/>
          <p:nvPr/>
        </p:nvSpPr>
        <p:spPr>
          <a:xfrm>
            <a:off x="7868756" y="320752"/>
            <a:ext cx="5029200" cy="669414"/>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ANALYSIS</a:t>
            </a:r>
          </a:p>
          <a:p>
            <a:r>
              <a:rPr lang="en-IN" dirty="0">
                <a:solidFill>
                  <a:schemeClr val="bg1"/>
                </a:solidFill>
                <a:latin typeface="Times New Roman" panose="02020603050405020304" pitchFamily="18" charset="0"/>
                <a:cs typeface="Times New Roman" panose="02020603050405020304" pitchFamily="18" charset="0"/>
              </a:rPr>
              <a:t>Data Preprocessing</a:t>
            </a:r>
            <a:endParaRPr lang="en-IN" sz="1800" b="1"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E570743-79C5-948D-25D5-A833C4CB0F69}"/>
              </a:ext>
            </a:extLst>
          </p:cNvPr>
          <p:cNvSpPr txBox="1"/>
          <p:nvPr/>
        </p:nvSpPr>
        <p:spPr>
          <a:xfrm>
            <a:off x="533399" y="869312"/>
            <a:ext cx="8915401" cy="590931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Data Cleaning</a:t>
            </a:r>
          </a:p>
          <a:p>
            <a:r>
              <a:rPr lang="en-US" dirty="0">
                <a:latin typeface="Times New Roman" panose="02020603050405020304" pitchFamily="18" charset="0"/>
                <a:cs typeface="Times New Roman" panose="02020603050405020304" pitchFamily="18" charset="0"/>
              </a:rPr>
              <a:t>Data cleaning is performed to handle </a:t>
            </a:r>
            <a:r>
              <a:rPr lang="en-US" b="1" dirty="0">
                <a:latin typeface="Times New Roman" panose="02020603050405020304" pitchFamily="18" charset="0"/>
                <a:cs typeface="Times New Roman" panose="02020603050405020304" pitchFamily="18" charset="0"/>
              </a:rPr>
              <a:t>missing, inconsistent, or incorrect student data</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Missing values in fields such as attendance, fee details, or contact information are corrected or filled using appropriate methods to ensure data accuracy and reliability.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Integration</a:t>
            </a:r>
          </a:p>
          <a:p>
            <a:r>
              <a:rPr lang="en-US" dirty="0">
                <a:latin typeface="Times New Roman" panose="02020603050405020304" pitchFamily="18" charset="0"/>
                <a:cs typeface="Times New Roman" panose="02020603050405020304" pitchFamily="18" charset="0"/>
              </a:rPr>
              <a:t>Data integration involves combining data from different modules such as </a:t>
            </a:r>
            <a:r>
              <a:rPr lang="en-US" b="1" dirty="0">
                <a:latin typeface="Times New Roman" panose="02020603050405020304" pitchFamily="18" charset="0"/>
                <a:cs typeface="Times New Roman" panose="02020603050405020304" pitchFamily="18" charset="0"/>
              </a:rPr>
              <a:t>student details, parent details, attendance records, and fee information</a:t>
            </a:r>
            <a:r>
              <a:rPr lang="en-US" dirty="0">
                <a:latin typeface="Times New Roman" panose="02020603050405020304" pitchFamily="18" charset="0"/>
                <a:cs typeface="Times New Roman" panose="02020603050405020304" pitchFamily="18" charset="0"/>
              </a:rPr>
              <a:t> into a single structured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ensures that all student-related data is available in one centralized database for easy access and management.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Reduction</a:t>
            </a:r>
          </a:p>
          <a:p>
            <a:r>
              <a:rPr lang="en-US" dirty="0">
                <a:latin typeface="Times New Roman" panose="02020603050405020304" pitchFamily="18" charset="0"/>
                <a:cs typeface="Times New Roman" panose="02020603050405020304" pitchFamily="18" charset="0"/>
              </a:rPr>
              <a:t>Data reduction is used to remove </a:t>
            </a:r>
            <a:r>
              <a:rPr lang="en-US" b="1" dirty="0">
                <a:latin typeface="Times New Roman" panose="02020603050405020304" pitchFamily="18" charset="0"/>
                <a:cs typeface="Times New Roman" panose="02020603050405020304" pitchFamily="18" charset="0"/>
              </a:rPr>
              <a:t>redundant or unnecessary information</a:t>
            </a:r>
            <a:r>
              <a:rPr lang="en-US" dirty="0">
                <a:latin typeface="Times New Roman" panose="02020603050405020304" pitchFamily="18" charset="0"/>
                <a:cs typeface="Times New Roman" panose="02020603050405020304" pitchFamily="18" charset="0"/>
              </a:rPr>
              <a:t> from the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Only important attributes like </a:t>
            </a:r>
            <a:r>
              <a:rPr lang="en-US" b="1" dirty="0">
                <a:latin typeface="Times New Roman" panose="02020603050405020304" pitchFamily="18" charset="0"/>
                <a:cs typeface="Times New Roman" panose="02020603050405020304" pitchFamily="18" charset="0"/>
              </a:rPr>
              <a:t>student ID, name, roll number, attendance, fee details, and branch</a:t>
            </a:r>
            <a:r>
              <a:rPr lang="en-US" dirty="0">
                <a:latin typeface="Times New Roman" panose="02020603050405020304" pitchFamily="18" charset="0"/>
                <a:cs typeface="Times New Roman" panose="02020603050405020304" pitchFamily="18" charset="0"/>
              </a:rPr>
              <a:t> are retained to improve system efficiency and performance.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Transformation</a:t>
            </a:r>
          </a:p>
          <a:p>
            <a:r>
              <a:rPr lang="en-US" dirty="0">
                <a:latin typeface="Times New Roman" panose="02020603050405020304" pitchFamily="18" charset="0"/>
                <a:cs typeface="Times New Roman" panose="02020603050405020304" pitchFamily="18" charset="0"/>
              </a:rPr>
              <a:t>Data transformation converts data into a suitable format for processing.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example, attendance can be converted into </a:t>
            </a:r>
            <a:r>
              <a:rPr lang="en-US" b="1" dirty="0">
                <a:latin typeface="Times New Roman" panose="02020603050405020304" pitchFamily="18" charset="0"/>
                <a:cs typeface="Times New Roman" panose="02020603050405020304" pitchFamily="18" charset="0"/>
              </a:rPr>
              <a:t>percentage format</a:t>
            </a:r>
            <a:r>
              <a:rPr lang="en-US" dirty="0">
                <a:latin typeface="Times New Roman" panose="02020603050405020304" pitchFamily="18" charset="0"/>
                <a:cs typeface="Times New Roman" panose="02020603050405020304" pitchFamily="18" charset="0"/>
              </a:rPr>
              <a:t>, and fee details can be categorized as </a:t>
            </a:r>
            <a:r>
              <a:rPr lang="en-US" b="1" dirty="0">
                <a:latin typeface="Times New Roman" panose="02020603050405020304" pitchFamily="18" charset="0"/>
                <a:cs typeface="Times New Roman" panose="02020603050405020304" pitchFamily="18" charset="0"/>
              </a:rPr>
              <a:t>Paid, Pending, or Overdue</a:t>
            </a:r>
            <a:r>
              <a:rPr lang="en-US" dirty="0">
                <a:latin typeface="Times New Roman" panose="02020603050405020304" pitchFamily="18" charset="0"/>
                <a:cs typeface="Times New Roman" panose="02020603050405020304" pitchFamily="18" charset="0"/>
              </a:rPr>
              <a:t> to make the system more understandable and efficient.</a:t>
            </a:r>
          </a:p>
        </p:txBody>
      </p:sp>
    </p:spTree>
    <p:extLst>
      <p:ext uri="{BB962C8B-B14F-4D97-AF65-F5344CB8AC3E}">
        <p14:creationId xmlns:p14="http://schemas.microsoft.com/office/powerpoint/2010/main" val="4273835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73076F-4177-9F43-B604-48A4D48A77C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pic>
        <p:nvPicPr>
          <p:cNvPr id="3" name="object 3">
            <a:extLst>
              <a:ext uri="{FF2B5EF4-FFF2-40B4-BE49-F238E27FC236}">
                <a16:creationId xmlns:a16="http://schemas.microsoft.com/office/drawing/2014/main" id="{BC608530-1BC9-2F56-7695-00D1305DBE4B}"/>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615A3BFD-DFEF-74AF-22A6-BCC0B6FB192B}"/>
              </a:ext>
            </a:extLst>
          </p:cNvPr>
          <p:cNvGrpSpPr/>
          <p:nvPr/>
        </p:nvGrpSpPr>
        <p:grpSpPr>
          <a:xfrm>
            <a:off x="2667000" y="29493"/>
            <a:ext cx="5103904" cy="1198311"/>
            <a:chOff x="2648188" y="47148"/>
            <a:chExt cx="5103904" cy="1198311"/>
          </a:xfrm>
        </p:grpSpPr>
        <p:pic>
          <p:nvPicPr>
            <p:cNvPr id="5" name="object 4">
              <a:extLst>
                <a:ext uri="{FF2B5EF4-FFF2-40B4-BE49-F238E27FC236}">
                  <a16:creationId xmlns:a16="http://schemas.microsoft.com/office/drawing/2014/main" id="{83D66381-FA6C-9576-C3BB-E422CD305839}"/>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0A0DC69-A78F-4323-C18B-DF831B83B636}"/>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E35C9B4-EA1C-F542-15F0-079EFAFE5B0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A2F0657-F4EA-714B-2BC9-C4888F91409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TextBox 8">
            <a:extLst>
              <a:ext uri="{FF2B5EF4-FFF2-40B4-BE49-F238E27FC236}">
                <a16:creationId xmlns:a16="http://schemas.microsoft.com/office/drawing/2014/main" id="{684DECD3-17DF-D19A-8F46-B4FA9D3FE8A2}"/>
              </a:ext>
            </a:extLst>
          </p:cNvPr>
          <p:cNvSpPr txBox="1"/>
          <p:nvPr/>
        </p:nvSpPr>
        <p:spPr>
          <a:xfrm>
            <a:off x="4178534" y="279294"/>
            <a:ext cx="1923674"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Methodologies</a:t>
            </a:r>
          </a:p>
        </p:txBody>
      </p:sp>
      <p:sp>
        <p:nvSpPr>
          <p:cNvPr id="24" name="TextBox 23">
            <a:extLst>
              <a:ext uri="{FF2B5EF4-FFF2-40B4-BE49-F238E27FC236}">
                <a16:creationId xmlns:a16="http://schemas.microsoft.com/office/drawing/2014/main" id="{56E93ACA-02A5-5759-61F6-677EDD5E9E6C}"/>
              </a:ext>
            </a:extLst>
          </p:cNvPr>
          <p:cNvSpPr txBox="1"/>
          <p:nvPr/>
        </p:nvSpPr>
        <p:spPr>
          <a:xfrm>
            <a:off x="555102" y="1111013"/>
            <a:ext cx="9067799" cy="7263527"/>
          </a:xfrm>
          <a:prstGeom prst="rect">
            <a:avLst/>
          </a:prstGeom>
          <a:noFill/>
        </p:spPr>
        <p:txBody>
          <a:bodyPr wrap="square">
            <a:spAutoFit/>
          </a:bodyPr>
          <a:lstStyle/>
          <a:p>
            <a:r>
              <a:rPr lang="en-US" dirty="0"/>
              <a:t>The project follows a </a:t>
            </a:r>
            <a:r>
              <a:rPr lang="en-US" b="1" dirty="0"/>
              <a:t>structured web application development approach</a:t>
            </a:r>
            <a:r>
              <a:rPr lang="en-US" dirty="0"/>
              <a:t> to manage student data efficiently using frontend, backend, and database technologies.</a:t>
            </a:r>
          </a:p>
          <a:p>
            <a:r>
              <a:rPr lang="en-US" b="1" dirty="0"/>
              <a:t>Frontend Development</a:t>
            </a:r>
          </a:p>
          <a:p>
            <a:r>
              <a:rPr lang="en-US" dirty="0"/>
              <a:t>• Developed using </a:t>
            </a:r>
            <a:r>
              <a:rPr lang="en-US" b="1" dirty="0"/>
              <a:t>HTML, CSS, and JavaScript</a:t>
            </a:r>
            <a:br>
              <a:rPr lang="en-US" dirty="0"/>
            </a:br>
            <a:r>
              <a:rPr lang="en-US" dirty="0"/>
              <a:t>• Provides user interface for entering and viewing student details</a:t>
            </a:r>
            <a:br>
              <a:rPr lang="en-US" dirty="0"/>
            </a:br>
            <a:r>
              <a:rPr lang="en-US" dirty="0"/>
              <a:t>• Ensures responsive and user-friendly design</a:t>
            </a:r>
          </a:p>
          <a:p>
            <a:br>
              <a:rPr lang="en-US" dirty="0"/>
            </a:br>
            <a:r>
              <a:rPr lang="en-US" b="1" dirty="0"/>
              <a:t>Backend Development</a:t>
            </a:r>
          </a:p>
          <a:p>
            <a:r>
              <a:rPr lang="en-US" dirty="0"/>
              <a:t>• Implemented using </a:t>
            </a:r>
            <a:r>
              <a:rPr lang="en-US" b="1" dirty="0"/>
              <a:t>PHP / Node.js</a:t>
            </a:r>
            <a:br>
              <a:rPr lang="en-US" dirty="0"/>
            </a:br>
            <a:r>
              <a:rPr lang="en-US" dirty="0"/>
              <a:t>• Handles server-side logic and request processing</a:t>
            </a:r>
            <a:br>
              <a:rPr lang="en-US" dirty="0"/>
            </a:br>
            <a:r>
              <a:rPr lang="en-US" dirty="0"/>
              <a:t>• Manages data communication between frontend and database</a:t>
            </a:r>
          </a:p>
          <a:p>
            <a:br>
              <a:rPr lang="en-US" dirty="0"/>
            </a:br>
            <a:r>
              <a:rPr lang="en-US" b="1" dirty="0"/>
              <a:t>Database Management</a:t>
            </a:r>
          </a:p>
          <a:p>
            <a:r>
              <a:rPr lang="en-US" dirty="0"/>
              <a:t>• Uses </a:t>
            </a:r>
            <a:r>
              <a:rPr lang="en-US" b="1" dirty="0"/>
              <a:t>MySQL / MongoDB</a:t>
            </a:r>
            <a:r>
              <a:rPr lang="en-US" dirty="0"/>
              <a:t> for storing student records</a:t>
            </a:r>
            <a:br>
              <a:rPr lang="en-US" dirty="0"/>
            </a:br>
            <a:r>
              <a:rPr lang="en-US" dirty="0"/>
              <a:t>• Stores data such as student details, attendance, fees, and parent information</a:t>
            </a:r>
            <a:br>
              <a:rPr lang="en-US" dirty="0"/>
            </a:br>
            <a:r>
              <a:rPr lang="en-US" dirty="0"/>
              <a:t>• Ensures data consistency and easy retrieval</a:t>
            </a:r>
          </a:p>
          <a:p>
            <a:endParaRPr lang="en-US" dirty="0"/>
          </a:p>
          <a:p>
            <a:r>
              <a:rPr lang="en-US" b="1" dirty="0"/>
              <a:t>System Working Flow</a:t>
            </a:r>
          </a:p>
          <a:p>
            <a:r>
              <a:rPr lang="en-US" dirty="0"/>
              <a:t>• User enters data through frontend interface</a:t>
            </a:r>
            <a:br>
              <a:rPr lang="en-US" dirty="0"/>
            </a:br>
            <a:r>
              <a:rPr lang="en-US" dirty="0"/>
              <a:t>• Request is sent to the server</a:t>
            </a:r>
            <a:br>
              <a:rPr lang="en-US" dirty="0"/>
            </a:br>
            <a:r>
              <a:rPr lang="en-US" dirty="0"/>
              <a:t>• Backend processes the request</a:t>
            </a:r>
            <a:br>
              <a:rPr lang="en-US" dirty="0"/>
            </a:br>
            <a:r>
              <a:rPr lang="en-US" dirty="0"/>
              <a:t>• Data is stored/retrieved from the database</a:t>
            </a:r>
            <a:br>
              <a:rPr lang="en-US" dirty="0"/>
            </a:br>
            <a:r>
              <a:rPr lang="en-US" dirty="0"/>
              <a:t>• Output is displayed to the user</a:t>
            </a:r>
          </a:p>
          <a:p>
            <a:r>
              <a:rPr lang="en-US" dirty="0"/>
              <a:t>➡️ </a:t>
            </a:r>
            <a:r>
              <a:rPr lang="en-US" b="1" dirty="0"/>
              <a:t>Flow:</a:t>
            </a:r>
            <a:r>
              <a:rPr lang="en-US" dirty="0"/>
              <a:t> User → Server → Database → Output</a:t>
            </a:r>
          </a:p>
          <a:p>
            <a:pPr>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336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407F-6273-0AA2-1C09-F9BDDEA7EEA3}"/>
              </a:ext>
            </a:extLst>
          </p:cNvPr>
          <p:cNvSpPr>
            <a:spLocks noGrp="1"/>
          </p:cNvSpPr>
          <p:nvPr>
            <p:ph type="title"/>
          </p:nvPr>
        </p:nvSpPr>
        <p:spPr>
          <a:xfrm>
            <a:off x="3831430" y="533400"/>
            <a:ext cx="2528570" cy="515085"/>
          </a:xfrm>
        </p:spPr>
        <p:txBody>
          <a:bodyPr/>
          <a:lstStyle/>
          <a:p>
            <a:r>
              <a:rPr lang="en-US" dirty="0"/>
              <a:t>CLUSTERING</a:t>
            </a:r>
            <a:endParaRPr lang="en-IN" dirty="0"/>
          </a:p>
        </p:txBody>
      </p:sp>
      <p:sp>
        <p:nvSpPr>
          <p:cNvPr id="3" name="Text Placeholder 2">
            <a:extLst>
              <a:ext uri="{FF2B5EF4-FFF2-40B4-BE49-F238E27FC236}">
                <a16:creationId xmlns:a16="http://schemas.microsoft.com/office/drawing/2014/main" id="{3A0A8D9F-1DB4-91A6-7753-DF26525D6F95}"/>
              </a:ext>
            </a:extLst>
          </p:cNvPr>
          <p:cNvSpPr>
            <a:spLocks noGrp="1"/>
          </p:cNvSpPr>
          <p:nvPr>
            <p:ph type="body" idx="1"/>
          </p:nvPr>
        </p:nvSpPr>
        <p:spPr>
          <a:xfrm>
            <a:off x="876300" y="1531787"/>
            <a:ext cx="8801100" cy="6104488"/>
          </a:xfrm>
        </p:spPr>
        <p:txBody>
          <a:bodyPr/>
          <a:lstStyle/>
          <a:p>
            <a:endParaRPr lang="en-US" sz="1800" b="0"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4EA00A9C-66DE-6F8D-61C2-8254D7FBB1A9}"/>
              </a:ext>
            </a:extLst>
          </p:cNvPr>
          <p:cNvPicPr>
            <a:picLocks noChangeAspect="1"/>
          </p:cNvPicPr>
          <p:nvPr/>
        </p:nvPicPr>
        <p:blipFill>
          <a:blip r:embed="rId2"/>
          <a:stretch>
            <a:fillRect/>
          </a:stretch>
        </p:blipFill>
        <p:spPr>
          <a:xfrm>
            <a:off x="2543015" y="136125"/>
            <a:ext cx="5105400" cy="1470776"/>
          </a:xfrm>
          <a:prstGeom prst="rect">
            <a:avLst/>
          </a:prstGeom>
        </p:spPr>
      </p:pic>
      <p:sp>
        <p:nvSpPr>
          <p:cNvPr id="5" name="TextBox 4">
            <a:extLst>
              <a:ext uri="{FF2B5EF4-FFF2-40B4-BE49-F238E27FC236}">
                <a16:creationId xmlns:a16="http://schemas.microsoft.com/office/drawing/2014/main" id="{822423A7-ACAD-D49B-7C94-1477E9142C39}"/>
              </a:ext>
            </a:extLst>
          </p:cNvPr>
          <p:cNvSpPr txBox="1"/>
          <p:nvPr/>
        </p:nvSpPr>
        <p:spPr>
          <a:xfrm>
            <a:off x="4108608" y="452527"/>
            <a:ext cx="2895600" cy="400110"/>
          </a:xfrm>
          <a:prstGeom prst="rect">
            <a:avLst/>
          </a:prstGeom>
          <a:noFill/>
        </p:spPr>
        <p:txBody>
          <a:bodyPr wrap="square" rtlCol="0">
            <a:spAutoFit/>
          </a:bodyPr>
          <a:lstStyle/>
          <a:p>
            <a:r>
              <a:rPr lang="en-IN" sz="2000" b="1" dirty="0">
                <a:solidFill>
                  <a:schemeClr val="bg1"/>
                </a:solidFill>
              </a:rPr>
              <a:t>    </a:t>
            </a:r>
            <a:r>
              <a:rPr lang="en-IN" sz="2000" b="1" dirty="0">
                <a:solidFill>
                  <a:schemeClr val="bg1"/>
                </a:solidFill>
                <a:latin typeface="Times New Roman" panose="02020603050405020304" pitchFamily="18" charset="0"/>
                <a:cs typeface="Times New Roman" panose="02020603050405020304" pitchFamily="18" charset="0"/>
              </a:rPr>
              <a:t>Modules</a:t>
            </a:r>
            <a:r>
              <a:rPr lang="en-IN" sz="2000" dirty="0"/>
              <a:t> </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29C89E90-8C83-6CE6-2561-90C23AD15C1B}"/>
              </a:ext>
            </a:extLst>
          </p:cNvPr>
          <p:cNvSpPr>
            <a:spLocks noChangeArrowheads="1"/>
          </p:cNvSpPr>
          <p:nvPr/>
        </p:nvSpPr>
        <p:spPr bwMode="auto">
          <a:xfrm>
            <a:off x="171450" y="933509"/>
            <a:ext cx="1024890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solidFill>
                  <a:schemeClr val="tx1"/>
                </a:solidFill>
                <a:latin typeface="Times New Roman" panose="02020603050405020304" pitchFamily="18" charset="0"/>
                <a:cs typeface="Times New Roman" panose="02020603050405020304" pitchFamily="18" charset="0"/>
              </a:rPr>
              <a:t>MODULES OVERVIEW</a:t>
            </a:r>
            <a:r>
              <a:rPr lang="en-US" altLang="en-US" b="1" dirty="0">
                <a:solidFill>
                  <a:schemeClr val="tx1"/>
                </a:solidFill>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starts with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Logo Page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represents the identity of the application.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Login Page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existing users to securely access the system using their credentials.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Register Page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used by new users to create an account.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login, users are directed to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Dashboard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provides an overview and navigation to all modules.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Details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stores and manages student personal and academic information.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Attendance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used to record and monitor student attendance.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Academics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maintains subject details, marks, and performance records.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 Details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fee information, payment status, and online payments.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Logout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users can safely exit the system. </a:t>
            </a:r>
          </a:p>
        </p:txBody>
      </p:sp>
    </p:spTree>
    <p:extLst>
      <p:ext uri="{BB962C8B-B14F-4D97-AF65-F5344CB8AC3E}">
        <p14:creationId xmlns:p14="http://schemas.microsoft.com/office/powerpoint/2010/main" val="1000543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208B-5D58-D2FD-F6FF-0CB07B6DE4B6}"/>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B64C4F40-0FDC-CB43-700C-75CDE77407DD}"/>
              </a:ext>
            </a:extLst>
          </p:cNvPr>
          <p:cNvSpPr>
            <a:spLocks noGrp="1"/>
          </p:cNvSpPr>
          <p:nvPr>
            <p:ph type="body" idx="1"/>
          </p:nvPr>
        </p:nvSpPr>
        <p:spPr>
          <a:xfrm>
            <a:off x="621189" y="1409148"/>
            <a:ext cx="8522812" cy="900246"/>
          </a:xfrm>
        </p:spPr>
        <p:txBody>
          <a:bodyPr/>
          <a:lstStyle/>
          <a:p>
            <a:r>
              <a:rPr lang="en-US" dirty="0"/>
              <a:t>Logo Page:</a:t>
            </a:r>
          </a:p>
          <a:p>
            <a:r>
              <a:rPr lang="en-US" b="0" dirty="0"/>
              <a:t>Displays the system logo and provides an entry point to the application.</a:t>
            </a:r>
          </a:p>
          <a:p>
            <a:endParaRPr lang="en-IN" dirty="0"/>
          </a:p>
        </p:txBody>
      </p:sp>
      <p:pic>
        <p:nvPicPr>
          <p:cNvPr id="6" name="Picture 5">
            <a:extLst>
              <a:ext uri="{FF2B5EF4-FFF2-40B4-BE49-F238E27FC236}">
                <a16:creationId xmlns:a16="http://schemas.microsoft.com/office/drawing/2014/main" id="{6228F2F0-1913-E6D5-FEA7-E9769F7F89D0}"/>
              </a:ext>
            </a:extLst>
          </p:cNvPr>
          <p:cNvPicPr>
            <a:picLocks noChangeAspect="1"/>
          </p:cNvPicPr>
          <p:nvPr/>
        </p:nvPicPr>
        <p:blipFill>
          <a:blip r:embed="rId2"/>
          <a:stretch>
            <a:fillRect/>
          </a:stretch>
        </p:blipFill>
        <p:spPr>
          <a:xfrm>
            <a:off x="621189" y="2309394"/>
            <a:ext cx="8980012" cy="5082006"/>
          </a:xfrm>
          <a:prstGeom prst="rect">
            <a:avLst/>
          </a:prstGeom>
        </p:spPr>
      </p:pic>
      <p:pic>
        <p:nvPicPr>
          <p:cNvPr id="8" name="Picture 7">
            <a:extLst>
              <a:ext uri="{FF2B5EF4-FFF2-40B4-BE49-F238E27FC236}">
                <a16:creationId xmlns:a16="http://schemas.microsoft.com/office/drawing/2014/main" id="{96AA6512-BF54-397E-8A3F-8724A5C58EEC}"/>
              </a:ext>
            </a:extLst>
          </p:cNvPr>
          <p:cNvPicPr>
            <a:picLocks noChangeAspect="1"/>
          </p:cNvPicPr>
          <p:nvPr/>
        </p:nvPicPr>
        <p:blipFill>
          <a:blip r:embed="rId3"/>
          <a:stretch>
            <a:fillRect/>
          </a:stretch>
        </p:blipFill>
        <p:spPr>
          <a:xfrm>
            <a:off x="2769580" y="639921"/>
            <a:ext cx="4651350" cy="638208"/>
          </a:xfrm>
          <a:prstGeom prst="rect">
            <a:avLst/>
          </a:prstGeom>
        </p:spPr>
      </p:pic>
    </p:spTree>
    <p:extLst>
      <p:ext uri="{BB962C8B-B14F-4D97-AF65-F5344CB8AC3E}">
        <p14:creationId xmlns:p14="http://schemas.microsoft.com/office/powerpoint/2010/main" val="1745275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668C-2079-3700-1159-D356D2391749}"/>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32CAF251-7D5D-4C70-F141-E4F4F32F8F85}"/>
              </a:ext>
            </a:extLst>
          </p:cNvPr>
          <p:cNvSpPr>
            <a:spLocks noGrp="1"/>
          </p:cNvSpPr>
          <p:nvPr>
            <p:ph type="body" idx="1"/>
          </p:nvPr>
        </p:nvSpPr>
        <p:spPr>
          <a:xfrm>
            <a:off x="621188" y="1409149"/>
            <a:ext cx="8949055" cy="1200329"/>
          </a:xfrm>
        </p:spPr>
        <p:txBody>
          <a:bodyPr/>
          <a:lstStyle/>
          <a:p>
            <a:r>
              <a:rPr lang="en-US" dirty="0"/>
              <a:t>Login Page</a:t>
            </a:r>
          </a:p>
          <a:p>
            <a:r>
              <a:rPr lang="en-US" b="0" dirty="0"/>
              <a:t>Allows users to securely log in using their credentials.</a:t>
            </a:r>
          </a:p>
          <a:p>
            <a:endParaRPr lang="en-US" b="0" dirty="0"/>
          </a:p>
          <a:p>
            <a:endParaRPr lang="en-IN" dirty="0"/>
          </a:p>
        </p:txBody>
      </p:sp>
      <p:pic>
        <p:nvPicPr>
          <p:cNvPr id="6" name="Picture 5">
            <a:extLst>
              <a:ext uri="{FF2B5EF4-FFF2-40B4-BE49-F238E27FC236}">
                <a16:creationId xmlns:a16="http://schemas.microsoft.com/office/drawing/2014/main" id="{CE583530-A4D8-E4BC-37F5-84385BD1CCF8}"/>
              </a:ext>
            </a:extLst>
          </p:cNvPr>
          <p:cNvPicPr>
            <a:picLocks noChangeAspect="1"/>
          </p:cNvPicPr>
          <p:nvPr/>
        </p:nvPicPr>
        <p:blipFill>
          <a:blip r:embed="rId2"/>
          <a:stretch>
            <a:fillRect/>
          </a:stretch>
        </p:blipFill>
        <p:spPr>
          <a:xfrm>
            <a:off x="2524659" y="551420"/>
            <a:ext cx="5141191" cy="705418"/>
          </a:xfrm>
          <a:prstGeom prst="rect">
            <a:avLst/>
          </a:prstGeom>
        </p:spPr>
      </p:pic>
      <p:pic>
        <p:nvPicPr>
          <p:cNvPr id="8" name="Picture 7">
            <a:extLst>
              <a:ext uri="{FF2B5EF4-FFF2-40B4-BE49-F238E27FC236}">
                <a16:creationId xmlns:a16="http://schemas.microsoft.com/office/drawing/2014/main" id="{895A3328-9E56-EAE3-7568-F2394618104D}"/>
              </a:ext>
            </a:extLst>
          </p:cNvPr>
          <p:cNvPicPr>
            <a:picLocks noChangeAspect="1"/>
          </p:cNvPicPr>
          <p:nvPr/>
        </p:nvPicPr>
        <p:blipFill>
          <a:blip r:embed="rId3"/>
          <a:stretch>
            <a:fillRect/>
          </a:stretch>
        </p:blipFill>
        <p:spPr>
          <a:xfrm>
            <a:off x="621189" y="2133600"/>
            <a:ext cx="8816024" cy="5005966"/>
          </a:xfrm>
          <a:prstGeom prst="rect">
            <a:avLst/>
          </a:prstGeom>
        </p:spPr>
      </p:pic>
    </p:spTree>
    <p:extLst>
      <p:ext uri="{BB962C8B-B14F-4D97-AF65-F5344CB8AC3E}">
        <p14:creationId xmlns:p14="http://schemas.microsoft.com/office/powerpoint/2010/main" val="2664578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CE53-279D-7695-AF37-0BCC7D0E9C68}"/>
              </a:ext>
            </a:extLst>
          </p:cNvPr>
          <p:cNvSpPr>
            <a:spLocks noGrp="1"/>
          </p:cNvSpPr>
          <p:nvPr>
            <p:ph type="title"/>
          </p:nvPr>
        </p:nvSpPr>
        <p:spPr>
          <a:xfrm>
            <a:off x="3830970" y="881554"/>
            <a:ext cx="2528570" cy="353943"/>
          </a:xfrm>
        </p:spPr>
        <p:txBody>
          <a:bodyPr/>
          <a:lstStyle/>
          <a:p>
            <a:endParaRPr lang="en-IN" b="0" dirty="0"/>
          </a:p>
        </p:txBody>
      </p:sp>
      <p:sp>
        <p:nvSpPr>
          <p:cNvPr id="3" name="Text Placeholder 2">
            <a:extLst>
              <a:ext uri="{FF2B5EF4-FFF2-40B4-BE49-F238E27FC236}">
                <a16:creationId xmlns:a16="http://schemas.microsoft.com/office/drawing/2014/main" id="{6F79A717-2B12-9F4C-5E12-244E870FB80D}"/>
              </a:ext>
            </a:extLst>
          </p:cNvPr>
          <p:cNvSpPr>
            <a:spLocks noGrp="1"/>
          </p:cNvSpPr>
          <p:nvPr>
            <p:ph type="body" idx="1"/>
          </p:nvPr>
        </p:nvSpPr>
        <p:spPr>
          <a:xfrm>
            <a:off x="621188" y="1409149"/>
            <a:ext cx="8949055" cy="1200329"/>
          </a:xfrm>
        </p:spPr>
        <p:txBody>
          <a:bodyPr/>
          <a:lstStyle/>
          <a:p>
            <a:r>
              <a:rPr lang="en-US" dirty="0"/>
              <a:t>Register Page</a:t>
            </a:r>
          </a:p>
          <a:p>
            <a:r>
              <a:rPr lang="en-US" b="0" dirty="0"/>
              <a:t>Enables new users to create an account in the system.</a:t>
            </a:r>
          </a:p>
          <a:p>
            <a:endParaRPr lang="en-IN" dirty="0"/>
          </a:p>
          <a:p>
            <a:endParaRPr lang="en-IN" dirty="0"/>
          </a:p>
        </p:txBody>
      </p:sp>
      <p:pic>
        <p:nvPicPr>
          <p:cNvPr id="6" name="Picture 5">
            <a:extLst>
              <a:ext uri="{FF2B5EF4-FFF2-40B4-BE49-F238E27FC236}">
                <a16:creationId xmlns:a16="http://schemas.microsoft.com/office/drawing/2014/main" id="{D5E4A915-8CC5-8EE1-80DE-2D1183B59DD0}"/>
              </a:ext>
            </a:extLst>
          </p:cNvPr>
          <p:cNvPicPr>
            <a:picLocks noChangeAspect="1"/>
          </p:cNvPicPr>
          <p:nvPr/>
        </p:nvPicPr>
        <p:blipFill>
          <a:blip r:embed="rId2"/>
          <a:stretch>
            <a:fillRect/>
          </a:stretch>
        </p:blipFill>
        <p:spPr>
          <a:xfrm>
            <a:off x="2464900" y="618632"/>
            <a:ext cx="5128600" cy="703691"/>
          </a:xfrm>
          <a:prstGeom prst="rect">
            <a:avLst/>
          </a:prstGeom>
        </p:spPr>
      </p:pic>
      <p:pic>
        <p:nvPicPr>
          <p:cNvPr id="8" name="Picture 7">
            <a:extLst>
              <a:ext uri="{FF2B5EF4-FFF2-40B4-BE49-F238E27FC236}">
                <a16:creationId xmlns:a16="http://schemas.microsoft.com/office/drawing/2014/main" id="{DC8B5433-DB60-3AAF-CE08-C23668FE09C5}"/>
              </a:ext>
            </a:extLst>
          </p:cNvPr>
          <p:cNvPicPr>
            <a:picLocks noChangeAspect="1"/>
          </p:cNvPicPr>
          <p:nvPr/>
        </p:nvPicPr>
        <p:blipFill>
          <a:blip r:embed="rId3"/>
          <a:stretch>
            <a:fillRect/>
          </a:stretch>
        </p:blipFill>
        <p:spPr>
          <a:xfrm>
            <a:off x="2104617" y="2057400"/>
            <a:ext cx="5849166" cy="5562600"/>
          </a:xfrm>
          <a:prstGeom prst="rect">
            <a:avLst/>
          </a:prstGeom>
        </p:spPr>
      </p:pic>
    </p:spTree>
    <p:extLst>
      <p:ext uri="{BB962C8B-B14F-4D97-AF65-F5344CB8AC3E}">
        <p14:creationId xmlns:p14="http://schemas.microsoft.com/office/powerpoint/2010/main" val="2206236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388D9-41F3-C789-8B14-2AEBE97D8C84}"/>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6E0ACF5D-F946-4A37-C5F2-E938D68D8E9A}"/>
              </a:ext>
            </a:extLst>
          </p:cNvPr>
          <p:cNvSpPr>
            <a:spLocks noGrp="1"/>
          </p:cNvSpPr>
          <p:nvPr>
            <p:ph type="body" idx="1"/>
          </p:nvPr>
        </p:nvSpPr>
        <p:spPr>
          <a:xfrm>
            <a:off x="621188" y="1409149"/>
            <a:ext cx="8949055" cy="1200329"/>
          </a:xfrm>
        </p:spPr>
        <p:txBody>
          <a:bodyPr/>
          <a:lstStyle/>
          <a:p>
            <a:r>
              <a:rPr lang="en-US" dirty="0"/>
              <a:t>Student Dashboard</a:t>
            </a:r>
          </a:p>
          <a:p>
            <a:r>
              <a:rPr lang="en-US" b="0" dirty="0"/>
              <a:t>Provides an overview of student information and quick access to all modules.</a:t>
            </a:r>
          </a:p>
          <a:p>
            <a:endParaRPr lang="en-US" b="0" dirty="0"/>
          </a:p>
          <a:p>
            <a:endParaRPr lang="en-IN" dirty="0"/>
          </a:p>
        </p:txBody>
      </p:sp>
      <p:pic>
        <p:nvPicPr>
          <p:cNvPr id="6" name="Picture 5">
            <a:extLst>
              <a:ext uri="{FF2B5EF4-FFF2-40B4-BE49-F238E27FC236}">
                <a16:creationId xmlns:a16="http://schemas.microsoft.com/office/drawing/2014/main" id="{91CD18BB-7653-776C-8B24-0D9F769123B1}"/>
              </a:ext>
            </a:extLst>
          </p:cNvPr>
          <p:cNvPicPr>
            <a:picLocks noChangeAspect="1"/>
          </p:cNvPicPr>
          <p:nvPr/>
        </p:nvPicPr>
        <p:blipFill>
          <a:blip r:embed="rId2"/>
          <a:stretch>
            <a:fillRect/>
          </a:stretch>
        </p:blipFill>
        <p:spPr>
          <a:xfrm>
            <a:off x="2286000" y="618628"/>
            <a:ext cx="5206394" cy="714365"/>
          </a:xfrm>
          <a:prstGeom prst="rect">
            <a:avLst/>
          </a:prstGeom>
        </p:spPr>
      </p:pic>
      <p:pic>
        <p:nvPicPr>
          <p:cNvPr id="8" name="Picture 7">
            <a:extLst>
              <a:ext uri="{FF2B5EF4-FFF2-40B4-BE49-F238E27FC236}">
                <a16:creationId xmlns:a16="http://schemas.microsoft.com/office/drawing/2014/main" id="{13305490-B367-7204-B35E-FE34DFA70C82}"/>
              </a:ext>
            </a:extLst>
          </p:cNvPr>
          <p:cNvPicPr>
            <a:picLocks noChangeAspect="1"/>
          </p:cNvPicPr>
          <p:nvPr/>
        </p:nvPicPr>
        <p:blipFill>
          <a:blip r:embed="rId3"/>
          <a:stretch>
            <a:fillRect/>
          </a:stretch>
        </p:blipFill>
        <p:spPr>
          <a:xfrm>
            <a:off x="1828800" y="2057400"/>
            <a:ext cx="6172200" cy="5638800"/>
          </a:xfrm>
          <a:prstGeom prst="rect">
            <a:avLst/>
          </a:prstGeom>
        </p:spPr>
      </p:pic>
    </p:spTree>
    <p:extLst>
      <p:ext uri="{BB962C8B-B14F-4D97-AF65-F5344CB8AC3E}">
        <p14:creationId xmlns:p14="http://schemas.microsoft.com/office/powerpoint/2010/main" val="3211314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88714-4632-AC55-25D5-9D648808CF4C}"/>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3F2BE268-CB33-4EC8-FC7E-A9F57F483D80}"/>
              </a:ext>
            </a:extLst>
          </p:cNvPr>
          <p:cNvSpPr>
            <a:spLocks noGrp="1"/>
          </p:cNvSpPr>
          <p:nvPr>
            <p:ph type="body" idx="1"/>
          </p:nvPr>
        </p:nvSpPr>
        <p:spPr>
          <a:xfrm>
            <a:off x="621188" y="1409149"/>
            <a:ext cx="8949055" cy="1200329"/>
          </a:xfrm>
        </p:spPr>
        <p:txBody>
          <a:bodyPr/>
          <a:lstStyle/>
          <a:p>
            <a:r>
              <a:rPr lang="en-US" dirty="0"/>
              <a:t>Student Details</a:t>
            </a:r>
          </a:p>
          <a:p>
            <a:r>
              <a:rPr lang="en-US" b="0" dirty="0"/>
              <a:t>Stores and displays personal and academic information of students.</a:t>
            </a:r>
          </a:p>
          <a:p>
            <a:endParaRPr lang="en-US" b="0" dirty="0"/>
          </a:p>
          <a:p>
            <a:endParaRPr lang="en-IN" dirty="0"/>
          </a:p>
        </p:txBody>
      </p:sp>
      <p:pic>
        <p:nvPicPr>
          <p:cNvPr id="6" name="Picture 5">
            <a:extLst>
              <a:ext uri="{FF2B5EF4-FFF2-40B4-BE49-F238E27FC236}">
                <a16:creationId xmlns:a16="http://schemas.microsoft.com/office/drawing/2014/main" id="{F29D10FC-1E57-69EB-951B-AD4462C6C26D}"/>
              </a:ext>
            </a:extLst>
          </p:cNvPr>
          <p:cNvPicPr>
            <a:picLocks noChangeAspect="1"/>
          </p:cNvPicPr>
          <p:nvPr/>
        </p:nvPicPr>
        <p:blipFill>
          <a:blip r:embed="rId2"/>
          <a:stretch>
            <a:fillRect/>
          </a:stretch>
        </p:blipFill>
        <p:spPr>
          <a:xfrm>
            <a:off x="2514600" y="674308"/>
            <a:ext cx="4800600" cy="658686"/>
          </a:xfrm>
          <a:prstGeom prst="rect">
            <a:avLst/>
          </a:prstGeom>
        </p:spPr>
      </p:pic>
      <p:pic>
        <p:nvPicPr>
          <p:cNvPr id="8" name="Picture 7">
            <a:extLst>
              <a:ext uri="{FF2B5EF4-FFF2-40B4-BE49-F238E27FC236}">
                <a16:creationId xmlns:a16="http://schemas.microsoft.com/office/drawing/2014/main" id="{A1522CED-52C0-243F-F10F-277194F791E6}"/>
              </a:ext>
            </a:extLst>
          </p:cNvPr>
          <p:cNvPicPr>
            <a:picLocks noChangeAspect="1"/>
          </p:cNvPicPr>
          <p:nvPr/>
        </p:nvPicPr>
        <p:blipFill>
          <a:blip r:embed="rId3"/>
          <a:stretch>
            <a:fillRect/>
          </a:stretch>
        </p:blipFill>
        <p:spPr>
          <a:xfrm>
            <a:off x="1905000" y="2133600"/>
            <a:ext cx="6172200" cy="5486400"/>
          </a:xfrm>
          <a:prstGeom prst="rect">
            <a:avLst/>
          </a:prstGeom>
        </p:spPr>
      </p:pic>
    </p:spTree>
    <p:extLst>
      <p:ext uri="{BB962C8B-B14F-4D97-AF65-F5344CB8AC3E}">
        <p14:creationId xmlns:p14="http://schemas.microsoft.com/office/powerpoint/2010/main" val="3700481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F614-2F53-66BF-EF6A-4B8F1B06F764}"/>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42BEFD68-50D2-3BB7-5597-6D4706E6463E}"/>
              </a:ext>
            </a:extLst>
          </p:cNvPr>
          <p:cNvSpPr>
            <a:spLocks noGrp="1"/>
          </p:cNvSpPr>
          <p:nvPr>
            <p:ph type="body" idx="1"/>
          </p:nvPr>
        </p:nvSpPr>
        <p:spPr>
          <a:xfrm>
            <a:off x="621188" y="1409149"/>
            <a:ext cx="8949055" cy="1200329"/>
          </a:xfrm>
        </p:spPr>
        <p:txBody>
          <a:bodyPr/>
          <a:lstStyle/>
          <a:p>
            <a:r>
              <a:rPr lang="en-US" dirty="0"/>
              <a:t>Attendance Details</a:t>
            </a:r>
          </a:p>
          <a:p>
            <a:r>
              <a:rPr lang="en-US" b="0" dirty="0"/>
              <a:t>Tracks and manages student attendance records.</a:t>
            </a:r>
          </a:p>
          <a:p>
            <a:endParaRPr lang="en-US" dirty="0"/>
          </a:p>
          <a:p>
            <a:endParaRPr lang="en-IN" dirty="0"/>
          </a:p>
        </p:txBody>
      </p:sp>
      <p:pic>
        <p:nvPicPr>
          <p:cNvPr id="6" name="Picture 5">
            <a:extLst>
              <a:ext uri="{FF2B5EF4-FFF2-40B4-BE49-F238E27FC236}">
                <a16:creationId xmlns:a16="http://schemas.microsoft.com/office/drawing/2014/main" id="{E83D00B1-E353-17C3-046B-D687220E355E}"/>
              </a:ext>
            </a:extLst>
          </p:cNvPr>
          <p:cNvPicPr>
            <a:picLocks noChangeAspect="1"/>
          </p:cNvPicPr>
          <p:nvPr/>
        </p:nvPicPr>
        <p:blipFill>
          <a:blip r:embed="rId2"/>
          <a:stretch>
            <a:fillRect/>
          </a:stretch>
        </p:blipFill>
        <p:spPr>
          <a:xfrm>
            <a:off x="2438400" y="696706"/>
            <a:ext cx="4953000" cy="679597"/>
          </a:xfrm>
          <a:prstGeom prst="rect">
            <a:avLst/>
          </a:prstGeom>
        </p:spPr>
      </p:pic>
      <p:pic>
        <p:nvPicPr>
          <p:cNvPr id="8" name="Picture 7">
            <a:extLst>
              <a:ext uri="{FF2B5EF4-FFF2-40B4-BE49-F238E27FC236}">
                <a16:creationId xmlns:a16="http://schemas.microsoft.com/office/drawing/2014/main" id="{E7AD02F2-8CA4-C489-32B5-A386C14B6BD6}"/>
              </a:ext>
            </a:extLst>
          </p:cNvPr>
          <p:cNvPicPr>
            <a:picLocks noChangeAspect="1"/>
          </p:cNvPicPr>
          <p:nvPr/>
        </p:nvPicPr>
        <p:blipFill>
          <a:blip r:embed="rId3"/>
          <a:stretch>
            <a:fillRect/>
          </a:stretch>
        </p:blipFill>
        <p:spPr>
          <a:xfrm>
            <a:off x="1142999" y="2057400"/>
            <a:ext cx="7543801" cy="5486400"/>
          </a:xfrm>
          <a:prstGeom prst="rect">
            <a:avLst/>
          </a:prstGeom>
        </p:spPr>
      </p:pic>
    </p:spTree>
    <p:extLst>
      <p:ext uri="{BB962C8B-B14F-4D97-AF65-F5344CB8AC3E}">
        <p14:creationId xmlns:p14="http://schemas.microsoft.com/office/powerpoint/2010/main" val="1674990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8C90-5324-3077-7F46-930E6B2982EB}"/>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C08D5AA3-F3B6-0722-EE10-EF1AD9B460C8}"/>
              </a:ext>
            </a:extLst>
          </p:cNvPr>
          <p:cNvSpPr>
            <a:spLocks noGrp="1"/>
          </p:cNvSpPr>
          <p:nvPr>
            <p:ph type="body" idx="1"/>
          </p:nvPr>
        </p:nvSpPr>
        <p:spPr>
          <a:xfrm>
            <a:off x="621188" y="1409149"/>
            <a:ext cx="8949055" cy="1200329"/>
          </a:xfrm>
        </p:spPr>
        <p:txBody>
          <a:bodyPr/>
          <a:lstStyle/>
          <a:p>
            <a:r>
              <a:rPr lang="en-US" dirty="0"/>
              <a:t>Academics Details</a:t>
            </a:r>
          </a:p>
          <a:p>
            <a:r>
              <a:rPr lang="en-US" b="0" dirty="0"/>
              <a:t>Maintains academic performance, subjects, and results of students.</a:t>
            </a:r>
          </a:p>
          <a:p>
            <a:endParaRPr lang="en-US" b="0" dirty="0"/>
          </a:p>
          <a:p>
            <a:endParaRPr lang="en-IN" dirty="0"/>
          </a:p>
        </p:txBody>
      </p:sp>
      <p:pic>
        <p:nvPicPr>
          <p:cNvPr id="6" name="Picture 5">
            <a:extLst>
              <a:ext uri="{FF2B5EF4-FFF2-40B4-BE49-F238E27FC236}">
                <a16:creationId xmlns:a16="http://schemas.microsoft.com/office/drawing/2014/main" id="{7E851FB7-F33C-24C6-5629-897C8A2F47A5}"/>
              </a:ext>
            </a:extLst>
          </p:cNvPr>
          <p:cNvPicPr>
            <a:picLocks noChangeAspect="1"/>
          </p:cNvPicPr>
          <p:nvPr/>
        </p:nvPicPr>
        <p:blipFill>
          <a:blip r:embed="rId2"/>
          <a:stretch>
            <a:fillRect/>
          </a:stretch>
        </p:blipFill>
        <p:spPr>
          <a:xfrm>
            <a:off x="2514600" y="663949"/>
            <a:ext cx="5029200" cy="690052"/>
          </a:xfrm>
          <a:prstGeom prst="rect">
            <a:avLst/>
          </a:prstGeom>
        </p:spPr>
      </p:pic>
      <p:pic>
        <p:nvPicPr>
          <p:cNvPr id="8" name="Picture 7">
            <a:extLst>
              <a:ext uri="{FF2B5EF4-FFF2-40B4-BE49-F238E27FC236}">
                <a16:creationId xmlns:a16="http://schemas.microsoft.com/office/drawing/2014/main" id="{AF8935E1-F91D-C740-3B47-86D428431635}"/>
              </a:ext>
            </a:extLst>
          </p:cNvPr>
          <p:cNvPicPr>
            <a:picLocks noChangeAspect="1"/>
          </p:cNvPicPr>
          <p:nvPr/>
        </p:nvPicPr>
        <p:blipFill>
          <a:blip r:embed="rId3"/>
          <a:stretch>
            <a:fillRect/>
          </a:stretch>
        </p:blipFill>
        <p:spPr>
          <a:xfrm>
            <a:off x="1219201" y="2057400"/>
            <a:ext cx="7696200" cy="5638800"/>
          </a:xfrm>
          <a:prstGeom prst="rect">
            <a:avLst/>
          </a:prstGeom>
        </p:spPr>
      </p:pic>
    </p:spTree>
    <p:extLst>
      <p:ext uri="{BB962C8B-B14F-4D97-AF65-F5344CB8AC3E}">
        <p14:creationId xmlns:p14="http://schemas.microsoft.com/office/powerpoint/2010/main" val="1135101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FCD06-6FE7-2350-45BA-27F5D3494316}"/>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ECB36BA1-67EC-71A3-771D-0B8777594B03}"/>
              </a:ext>
            </a:extLst>
          </p:cNvPr>
          <p:cNvSpPr>
            <a:spLocks noGrp="1"/>
          </p:cNvSpPr>
          <p:nvPr>
            <p:ph type="body" idx="1"/>
          </p:nvPr>
        </p:nvSpPr>
        <p:spPr>
          <a:xfrm>
            <a:off x="621188" y="1409149"/>
            <a:ext cx="8949055" cy="1200329"/>
          </a:xfrm>
        </p:spPr>
        <p:txBody>
          <a:bodyPr/>
          <a:lstStyle/>
          <a:p>
            <a:r>
              <a:rPr lang="en-US" dirty="0"/>
              <a:t>Fee Details</a:t>
            </a:r>
          </a:p>
          <a:p>
            <a:r>
              <a:rPr lang="en-US" b="0" dirty="0"/>
              <a:t>Manages fee structure, payment status, and online transactions.</a:t>
            </a:r>
          </a:p>
          <a:p>
            <a:endParaRPr lang="en-IN" dirty="0"/>
          </a:p>
          <a:p>
            <a:endParaRPr lang="en-IN" dirty="0"/>
          </a:p>
        </p:txBody>
      </p:sp>
      <p:pic>
        <p:nvPicPr>
          <p:cNvPr id="5" name="Picture 4">
            <a:extLst>
              <a:ext uri="{FF2B5EF4-FFF2-40B4-BE49-F238E27FC236}">
                <a16:creationId xmlns:a16="http://schemas.microsoft.com/office/drawing/2014/main" id="{BD360CA4-DFC8-10B4-1B78-1F893E628EFA}"/>
              </a:ext>
            </a:extLst>
          </p:cNvPr>
          <p:cNvPicPr>
            <a:picLocks noChangeAspect="1"/>
          </p:cNvPicPr>
          <p:nvPr/>
        </p:nvPicPr>
        <p:blipFill>
          <a:blip r:embed="rId2"/>
          <a:stretch>
            <a:fillRect/>
          </a:stretch>
        </p:blipFill>
        <p:spPr>
          <a:xfrm>
            <a:off x="2438400" y="539498"/>
            <a:ext cx="5029200" cy="803351"/>
          </a:xfrm>
          <a:prstGeom prst="rect">
            <a:avLst/>
          </a:prstGeom>
        </p:spPr>
      </p:pic>
      <p:pic>
        <p:nvPicPr>
          <p:cNvPr id="7" name="Picture 6">
            <a:extLst>
              <a:ext uri="{FF2B5EF4-FFF2-40B4-BE49-F238E27FC236}">
                <a16:creationId xmlns:a16="http://schemas.microsoft.com/office/drawing/2014/main" id="{17229D08-365D-EEBE-6535-D36F291B45D2}"/>
              </a:ext>
            </a:extLst>
          </p:cNvPr>
          <p:cNvPicPr>
            <a:picLocks noChangeAspect="1"/>
          </p:cNvPicPr>
          <p:nvPr/>
        </p:nvPicPr>
        <p:blipFill>
          <a:blip r:embed="rId3"/>
          <a:stretch>
            <a:fillRect/>
          </a:stretch>
        </p:blipFill>
        <p:spPr>
          <a:xfrm>
            <a:off x="1295400" y="2133600"/>
            <a:ext cx="7543800" cy="5039183"/>
          </a:xfrm>
          <a:prstGeom prst="rect">
            <a:avLst/>
          </a:prstGeom>
        </p:spPr>
      </p:pic>
    </p:spTree>
    <p:extLst>
      <p:ext uri="{BB962C8B-B14F-4D97-AF65-F5344CB8AC3E}">
        <p14:creationId xmlns:p14="http://schemas.microsoft.com/office/powerpoint/2010/main" val="4025541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D95B-758D-465E-74FF-5ECD57DB2F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92F86B7-A241-7D1C-4D7F-C1A70102858D}"/>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AB02C6BE-083D-653B-0B98-D55B2438D9EE}"/>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7BD7E0AC-901D-87F0-0BAB-5E5E42287DA7}"/>
              </a:ext>
            </a:extLst>
          </p:cNvPr>
          <p:cNvSpPr txBox="1"/>
          <p:nvPr/>
        </p:nvSpPr>
        <p:spPr>
          <a:xfrm>
            <a:off x="2667000" y="257115"/>
            <a:ext cx="5029200" cy="400110"/>
          </a:xfrm>
          <a:prstGeom prst="rect">
            <a:avLst/>
          </a:prstGeom>
          <a:noFill/>
        </p:spPr>
        <p:txBody>
          <a:bodyPr wrap="square">
            <a:spAutoFit/>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      System Features / Implementation</a:t>
            </a:r>
            <a:endParaRPr lang="en-IN" sz="2000" b="1" dirty="0">
              <a:solidFill>
                <a:schemeClr val="bg1"/>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EE418233-84BB-004B-2444-799C1E4EA96C}"/>
              </a:ext>
            </a:extLst>
          </p:cNvPr>
          <p:cNvSpPr>
            <a:spLocks noChangeArrowheads="1"/>
          </p:cNvSpPr>
          <p:nvPr/>
        </p:nvSpPr>
        <p:spPr bwMode="auto">
          <a:xfrm>
            <a:off x="381000" y="411453"/>
            <a:ext cx="9372600"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b="1"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b="1"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Student Record Management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system allows users to add new student details, update existing information, and delete records when required, ensuring accurate and up-to-date data.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Attendance Tracking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It enables efficient recording and monitoring of student attendance, helping maintain proper attendance history and reports.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Fee Management System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system manages fee details, including total fees, paid amount, and pending dues, along with tracking online payment status.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Search &amp; Filter Functionality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Users can quickly search and filter student data based on roll number, name, or branch for easy access and management.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User-Friendly Interface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application provides a simple, intuitive, and easy-to-use interface, allowing users to interact with the system without difficulty. </a:t>
            </a:r>
          </a:p>
        </p:txBody>
      </p:sp>
    </p:spTree>
    <p:extLst>
      <p:ext uri="{BB962C8B-B14F-4D97-AF65-F5344CB8AC3E}">
        <p14:creationId xmlns:p14="http://schemas.microsoft.com/office/powerpoint/2010/main" val="3328238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9F748-1117-C168-964C-550AA43FE1AB}"/>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DA692544-9DAA-0EE0-5765-0D410B755497}"/>
              </a:ext>
            </a:extLst>
          </p:cNvPr>
          <p:cNvPicPr>
            <a:picLocks noChangeAspect="1"/>
          </p:cNvPicPr>
          <p:nvPr/>
        </p:nvPicPr>
        <p:blipFill>
          <a:blip r:embed="rId3"/>
          <a:stretch>
            <a:fillRect/>
          </a:stretch>
        </p:blipFill>
        <p:spPr>
          <a:xfrm>
            <a:off x="2552700" y="423160"/>
            <a:ext cx="5105400" cy="1200150"/>
          </a:xfrm>
          <a:prstGeom prst="rect">
            <a:avLst/>
          </a:prstGeom>
        </p:spPr>
      </p:pic>
      <p:sp>
        <p:nvSpPr>
          <p:cNvPr id="19" name="TextBox 18">
            <a:extLst>
              <a:ext uri="{FF2B5EF4-FFF2-40B4-BE49-F238E27FC236}">
                <a16:creationId xmlns:a16="http://schemas.microsoft.com/office/drawing/2014/main" id="{D5B57076-DCE8-C960-F35D-4C359D62573F}"/>
              </a:ext>
            </a:extLst>
          </p:cNvPr>
          <p:cNvSpPr txBox="1"/>
          <p:nvPr/>
        </p:nvSpPr>
        <p:spPr>
          <a:xfrm>
            <a:off x="2209800" y="28957"/>
            <a:ext cx="8763000" cy="677108"/>
          </a:xfrm>
          <a:prstGeom prst="rect">
            <a:avLst/>
          </a:prstGeom>
          <a:noFill/>
        </p:spPr>
        <p:txBody>
          <a:bodyPr wrap="square">
            <a:spAutoFit/>
          </a:bodyPr>
          <a:lstStyle/>
          <a:p>
            <a:endParaRPr lang="en-US" b="1" dirty="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6D1F309-15F5-88BC-7630-F6536E4641AA}"/>
              </a:ext>
            </a:extLst>
          </p:cNvPr>
          <p:cNvSpPr>
            <a:spLocks noChangeArrowheads="1"/>
          </p:cNvSpPr>
          <p:nvPr/>
        </p:nvSpPr>
        <p:spPr bwMode="auto">
          <a:xfrm>
            <a:off x="381000" y="1366555"/>
            <a:ext cx="94488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b="1"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Summary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Student Management System is a web-based application developed to manage student information in a structured and efficient manner. It integrates various modules such as student details, attendance tracking, academic records, and fee management into a single centralized platform, making data handling simple and organized.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 of the System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significantly reduces manual paperwork and human errors, improves data accuracy, and saves time for administrators and faculty. It provides quick and easy access to student records, enhances data organization, and offers a user-friendly interface for smooth operation.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Enhancements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future, the system can be enhanced by developing a mobile application for better accessibility, implementing advanced security features to protect data, automating processes like attendance and fee notifications, and integrating analytics for better decision-making. </a:t>
            </a:r>
          </a:p>
        </p:txBody>
      </p:sp>
      <p:sp>
        <p:nvSpPr>
          <p:cNvPr id="5" name="TextBox 4">
            <a:extLst>
              <a:ext uri="{FF2B5EF4-FFF2-40B4-BE49-F238E27FC236}">
                <a16:creationId xmlns:a16="http://schemas.microsoft.com/office/drawing/2014/main" id="{1E3B8A9F-BF0F-B112-FE52-59705DAA12E3}"/>
              </a:ext>
            </a:extLst>
          </p:cNvPr>
          <p:cNvSpPr txBox="1"/>
          <p:nvPr/>
        </p:nvSpPr>
        <p:spPr>
          <a:xfrm>
            <a:off x="4286250" y="706065"/>
            <a:ext cx="5029200" cy="369332"/>
          </a:xfrm>
          <a:prstGeom prst="rect">
            <a:avLst/>
          </a:prstGeom>
          <a:noFill/>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03308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3229</TotalTime>
  <Words>1572</Words>
  <Application>Microsoft Office PowerPoint</Application>
  <PresentationFormat>Custom</PresentationFormat>
  <Paragraphs>155</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Palatino Linotype</vt:lpstr>
      <vt:lpstr>Times New Roman</vt:lpstr>
      <vt:lpstr>Office Theme</vt:lpstr>
      <vt:lpstr>Mern Stack Project Final Review</vt:lpstr>
      <vt:lpstr>PowerPoint Presentation</vt:lpstr>
      <vt:lpstr>ABSTRACT</vt:lpstr>
      <vt:lpstr>PowerPoint Presentation</vt:lpstr>
      <vt:lpstr>PowerPoint Presentation</vt:lpstr>
      <vt:lpstr>PowerPoint Presentation</vt:lpstr>
      <vt:lpstr>PowerPoint Presentation</vt:lpstr>
      <vt:lpstr>PowerPoint Presentation</vt:lpstr>
      <vt:lpstr>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shanmukha sri nehah padmanabhui</cp:lastModifiedBy>
  <cp:revision>57</cp:revision>
  <cp:lastPrinted>2025-10-14T18:21:49Z</cp:lastPrinted>
  <dcterms:created xsi:type="dcterms:W3CDTF">2025-10-10T08:28:06Z</dcterms:created>
  <dcterms:modified xsi:type="dcterms:W3CDTF">2026-04-05T05:34:07Z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